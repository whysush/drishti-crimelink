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art.png"/>
          <p:cNvPicPr>
            <a:picLocks noChangeAspect="1"/>
          </p:cNvPicPr>
          <p:nvPr/>
        </p:nvPicPr>
        <p:blipFill>
          <a:blip r:embed="rId2"/>
          <a:stretch>
            <a:fillRect/>
          </a:stretch>
        </p:blipFill>
        <p:spPr>
          <a:xfrm>
            <a:off x="0" y="0"/>
            <a:ext cx="12191695" cy="4131630"/>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566928" y="4332798"/>
            <a:ext cx="11155680" cy="457200"/>
          </a:xfrm>
          <a:prstGeom prst="rect">
            <a:avLst/>
          </a:prstGeom>
          <a:noFill/>
        </p:spPr>
        <p:txBody>
          <a:bodyPr wrap="square">
            <a:spAutoFit/>
          </a:bodyPr>
          <a:lstStyle/>
          <a:p>
            <a:pPr algn="l"/>
            <a:r>
              <a:rPr sz="2100" b="1">
                <a:solidFill>
                  <a:srgbClr val="111111"/>
                </a:solidFill>
                <a:latin typeface="Arial"/>
              </a:rPr>
              <a:t>Team Details</a:t>
            </a:r>
          </a:p>
        </p:txBody>
      </p:sp>
      <p:sp>
        <p:nvSpPr>
          <p:cNvPr id="5" name="TextBox 4"/>
          <p:cNvSpPr txBox="1"/>
          <p:nvPr/>
        </p:nvSpPr>
        <p:spPr>
          <a:xfrm>
            <a:off x="1051560" y="4844862"/>
            <a:ext cx="10424160" cy="1463040"/>
          </a:xfrm>
          <a:prstGeom prst="rect">
            <a:avLst/>
          </a:prstGeom>
          <a:noFill/>
        </p:spPr>
        <p:txBody>
          <a:bodyPr wrap="square">
            <a:spAutoFit/>
          </a:bodyPr>
          <a:lstStyle/>
          <a:p>
            <a:pPr algn="l">
              <a:lnSpc>
                <a:spcPct val="122000"/>
              </a:lnSpc>
              <a:spcAft>
                <a:spcPts val="400"/>
              </a:spcAft>
            </a:pPr>
            <a:r>
              <a:rPr sz="1400" b="0">
                <a:solidFill>
                  <a:srgbClr val="111111"/>
                </a:solidFill>
                <a:latin typeface="Arial"/>
              </a:rPr>
              <a:t>a.   </a:t>
            </a:r>
            <a:r>
              <a:rPr sz="1400" b="1">
                <a:solidFill>
                  <a:srgbClr val="111111"/>
                </a:solidFill>
                <a:latin typeface="Arial"/>
              </a:rPr>
              <a:t>Team name:</a:t>
            </a:r>
            <a:r>
              <a:rPr sz="1400" b="0">
                <a:solidFill>
                  <a:srgbClr val="111111"/>
                </a:solidFill>
                <a:latin typeface="Arial"/>
              </a:rPr>
              <a:t>  Rangdari Gang</a:t>
            </a:r>
          </a:p>
          <a:p>
            <a:pPr algn="l">
              <a:lnSpc>
                <a:spcPct val="122000"/>
              </a:lnSpc>
              <a:spcAft>
                <a:spcPts val="400"/>
              </a:spcAft>
            </a:pPr>
            <a:r>
              <a:rPr sz="1400" b="0">
                <a:solidFill>
                  <a:srgbClr val="111111"/>
                </a:solidFill>
                <a:latin typeface="Arial"/>
              </a:rPr>
              <a:t>b.   </a:t>
            </a:r>
            <a:r>
              <a:rPr sz="1400" b="1">
                <a:solidFill>
                  <a:srgbClr val="111111"/>
                </a:solidFill>
                <a:latin typeface="Arial"/>
              </a:rPr>
              <a:t>Team leader name:</a:t>
            </a:r>
            <a:r>
              <a:rPr sz="1400" b="0">
                <a:solidFill>
                  <a:srgbClr val="111111"/>
                </a:solidFill>
                <a:latin typeface="Arial"/>
              </a:rPr>
              <a:t>  Soma Mishra</a:t>
            </a:r>
          </a:p>
          <a:p>
            <a:pPr algn="l">
              <a:lnSpc>
                <a:spcPct val="122000"/>
              </a:lnSpc>
              <a:spcAft>
                <a:spcPts val="400"/>
              </a:spcAft>
            </a:pPr>
            <a:r>
              <a:rPr sz="1400" b="0">
                <a:solidFill>
                  <a:srgbClr val="111111"/>
                </a:solidFill>
                <a:latin typeface="Arial"/>
              </a:rPr>
              <a:t>c.   </a:t>
            </a:r>
            <a:r>
              <a:rPr sz="1400" b="1">
                <a:solidFill>
                  <a:srgbClr val="111111"/>
                </a:solidFill>
                <a:latin typeface="Arial"/>
              </a:rPr>
              <a:t>Team size:</a:t>
            </a:r>
            <a:r>
              <a:rPr sz="1400" b="0">
                <a:solidFill>
                  <a:srgbClr val="111111"/>
                </a:solidFill>
                <a:latin typeface="Arial"/>
              </a:rPr>
              <a:t>  2  (Sushanth Yelishetty and Soma Mishra)</a:t>
            </a:r>
          </a:p>
          <a:p>
            <a:pPr algn="l">
              <a:lnSpc>
                <a:spcPct val="122000"/>
              </a:lnSpc>
              <a:spcAft>
                <a:spcPts val="700"/>
              </a:spcAft>
            </a:pPr>
            <a:r>
              <a:rPr sz="1400" b="0">
                <a:solidFill>
                  <a:srgbClr val="111111"/>
                </a:solidFill>
                <a:latin typeface="Arial"/>
              </a:rPr>
              <a:t>d.   </a:t>
            </a:r>
            <a:r>
              <a:rPr sz="1400" b="1">
                <a:solidFill>
                  <a:srgbClr val="111111"/>
                </a:solidFill>
                <a:latin typeface="Arial"/>
              </a:rPr>
              <a:t>Problem Statement:</a:t>
            </a:r>
            <a:r>
              <a:rPr sz="1400" b="0">
                <a:solidFill>
                  <a:srgbClr val="111111"/>
                </a:solidFill>
                <a:latin typeface="Arial"/>
              </a:rPr>
              <a:t>  AI-Driven Crime Analytics &amp; Visualization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Brief about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1000"/>
              </a:spcAft>
            </a:pPr>
            <a:r>
              <a:rPr sz="1500" b="1">
                <a:solidFill>
                  <a:srgbClr val="111111"/>
                </a:solidFill>
                <a:latin typeface="Arial"/>
              </a:rPr>
              <a:t>Drishti links undetected cases by how the crime was done, not by who was named.</a:t>
            </a:r>
          </a:p>
          <a:p>
            <a:pPr algn="l">
              <a:lnSpc>
                <a:spcPct val="122000"/>
              </a:lnSpc>
              <a:spcAft>
                <a:spcPts val="700"/>
              </a:spcAft>
            </a:pPr>
            <a:r>
              <a:rPr sz="1350" b="0">
                <a:solidFill>
                  <a:srgbClr val="333840"/>
                </a:solidFill>
                <a:latin typeface="Arial"/>
              </a:rPr>
              <a:t>Karnataka carries thousands of undetected cases (final report type C). They sit in isolation because the FIR schema has </a:t>
            </a:r>
            <a:r>
              <a:rPr sz="1350" b="1">
                <a:solidFill>
                  <a:srgbClr val="333840"/>
                </a:solidFill>
                <a:latin typeface="Arial"/>
              </a:rPr>
              <a:t>no global offender identity</a:t>
            </a:r>
            <a:r>
              <a:rPr sz="1350" b="0">
                <a:solidFill>
                  <a:srgbClr val="333840"/>
                </a:solidFill>
                <a:latin typeface="Arial"/>
              </a:rPr>
              <a:t> — Accused.PersonID is documented as “A1, A2, A3…”, a sort order within a single FIR. When one offender works across several stations, the database holds several unrelated name strings and nobody ever joins them.</a:t>
            </a:r>
          </a:p>
          <a:p>
            <a:pPr algn="l">
              <a:lnSpc>
                <a:spcPct val="122000"/>
              </a:lnSpc>
              <a:spcAft>
                <a:spcPts val="700"/>
              </a:spcAft>
            </a:pPr>
            <a:r>
              <a:rPr sz="1350" b="0">
                <a:solidFill>
                  <a:srgbClr val="333840"/>
                </a:solidFill>
                <a:latin typeface="Arial"/>
              </a:rPr>
              <a:t>For every undetected FIR the engine builds a </a:t>
            </a:r>
            <a:r>
              <a:rPr sz="1350" b="1">
                <a:solidFill>
                  <a:srgbClr val="333840"/>
                </a:solidFill>
                <a:latin typeface="Arial"/>
              </a:rPr>
              <a:t>behavioural fingerprint</a:t>
            </a:r>
            <a:r>
              <a:rPr sz="1350" b="0">
                <a:solidFill>
                  <a:srgbClr val="333840"/>
                </a:solidFill>
                <a:latin typeface="Arial"/>
              </a:rPr>
              <a:t> from seven signals — the modus operandi in the complaint text, offence type, the Act and Section invoked, location, time-of-day pattern and victim profile. It scores every pair of cases against each other, then groups the look-alikes using </a:t>
            </a:r>
            <a:r>
              <a:rPr sz="1350" b="1">
                <a:solidFill>
                  <a:srgbClr val="333840"/>
                </a:solidFill>
                <a:latin typeface="Arial"/>
              </a:rPr>
              <a:t>agglomerative clustering</a:t>
            </a:r>
            <a:r>
              <a:rPr sz="1350" b="0">
                <a:solidFill>
                  <a:srgbClr val="333840"/>
                </a:solidFill>
                <a:latin typeface="Arial"/>
              </a:rPr>
              <a:t> on the resulting distance matrix.</a:t>
            </a:r>
          </a:p>
          <a:p>
            <a:pPr algn="l">
              <a:lnSpc>
                <a:spcPct val="122000"/>
              </a:lnSpc>
              <a:spcAft>
                <a:spcPts val="700"/>
              </a:spcAft>
            </a:pPr>
            <a:r>
              <a:rPr sz="1350" b="0">
                <a:solidFill>
                  <a:srgbClr val="333840"/>
                </a:solidFill>
                <a:latin typeface="Arial"/>
              </a:rPr>
              <a:t>The output is not a map of where crime happened. It is a </a:t>
            </a:r>
            <a:r>
              <a:rPr sz="1350" b="1">
                <a:solidFill>
                  <a:srgbClr val="333840"/>
                </a:solidFill>
                <a:latin typeface="Arial"/>
              </a:rPr>
              <a:t>ranked queue of suspected offender groups</a:t>
            </a:r>
            <a:r>
              <a:rPr sz="1350" b="0">
                <a:solidFill>
                  <a:srgbClr val="333840"/>
                </a:solidFill>
                <a:latin typeface="Arial"/>
              </a:rPr>
              <a:t>, each citing the real FIR numbers that make it up, each showing which signals produced the link. From </a:t>
            </a:r>
            <a:r>
              <a:rPr sz="1350" b="1">
                <a:solidFill>
                  <a:srgbClr val="333840"/>
                </a:solidFill>
                <a:latin typeface="Arial"/>
              </a:rPr>
              <a:t>789 undetected cases across 69 stations and 19 districts</a:t>
            </a:r>
            <a:r>
              <a:rPr sz="1350" b="0">
                <a:solidFill>
                  <a:srgbClr val="333840"/>
                </a:solidFill>
                <a:latin typeface="Arial"/>
              </a:rPr>
              <a:t>, it surfaces </a:t>
            </a:r>
            <a:r>
              <a:rPr sz="1350" b="1">
                <a:solidFill>
                  <a:srgbClr val="333840"/>
                </a:solidFill>
                <a:latin typeface="Arial"/>
              </a:rPr>
              <a:t>16 groups holding 87 cases — every one of them spanning more than one police station.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Opportunities</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350" b="1">
                <a:solidFill>
                  <a:srgbClr val="A8231B"/>
                </a:solidFill>
                <a:latin typeface="Arial"/>
              </a:rPr>
              <a:t>a.  How different is it from any of the other existing ideas?</a:t>
            </a:r>
          </a:p>
          <a:p>
            <a:pPr algn="l">
              <a:lnSpc>
                <a:spcPct val="122000"/>
              </a:lnSpc>
              <a:spcAft>
                <a:spcPts val="500"/>
              </a:spcAft>
            </a:pPr>
            <a:r>
              <a:rPr sz="1250" b="1">
                <a:solidFill>
                  <a:srgbClr val="666C77"/>
                </a:solidFill>
                <a:latin typeface="Arial"/>
              </a:rPr>
              <a:t>Typical crime tools</a:t>
            </a:r>
            <a:r>
              <a:rPr sz="1250" b="0">
                <a:solidFill>
                  <a:srgbClr val="666C77"/>
                </a:solidFill>
                <a:latin typeface="Arial"/>
              </a:rPr>
              <a:t>                                          →  </a:t>
            </a:r>
            <a:r>
              <a:rPr sz="1250" b="1">
                <a:solidFill>
                  <a:srgbClr val="666C77"/>
                </a:solidFill>
                <a:latin typeface="Arial"/>
              </a:rPr>
              <a:t>Drishti</a:t>
            </a:r>
          </a:p>
          <a:p>
            <a:pPr algn="l">
              <a:lnSpc>
                <a:spcPct val="122000"/>
              </a:lnSpc>
              <a:spcAft>
                <a:spcPts val="300"/>
              </a:spcAft>
            </a:pPr>
            <a:r>
              <a:rPr sz="1200" b="0">
                <a:solidFill>
                  <a:srgbClr val="333840"/>
                </a:solidFill>
                <a:latin typeface="Arial"/>
              </a:rPr>
              <a:t>• Descriptive dashboards showing where crime happened  </a:t>
            </a:r>
            <a:r>
              <a:rPr sz="1200" b="1">
                <a:solidFill>
                  <a:srgbClr val="333840"/>
                </a:solidFill>
                <a:latin typeface="Arial"/>
              </a:rPr>
              <a:t>→  Prescriptive — surfaces hidden links and actionable case series to reopen</a:t>
            </a:r>
          </a:p>
          <a:p>
            <a:pPr algn="l">
              <a:lnSpc>
                <a:spcPct val="122000"/>
              </a:lnSpc>
              <a:spcAft>
                <a:spcPts val="300"/>
              </a:spcAft>
            </a:pPr>
            <a:r>
              <a:rPr sz="1200" b="0">
                <a:solidFill>
                  <a:srgbClr val="333840"/>
                </a:solidFill>
                <a:latin typeface="Arial"/>
              </a:rPr>
              <a:t>• Depend on offender IDs or manual case linking  </a:t>
            </a:r>
            <a:r>
              <a:rPr sz="1200" b="1">
                <a:solidFill>
                  <a:srgbClr val="333840"/>
                </a:solidFill>
                <a:latin typeface="Arial"/>
              </a:rPr>
              <a:t>→  Works without any person ID, using behavioural fingerprinting</a:t>
            </a:r>
          </a:p>
          <a:p>
            <a:pPr algn="l">
              <a:lnSpc>
                <a:spcPct val="122000"/>
              </a:lnSpc>
              <a:spcAft>
                <a:spcPts val="300"/>
              </a:spcAft>
            </a:pPr>
            <a:r>
              <a:rPr sz="1200" b="0">
                <a:solidFill>
                  <a:srgbClr val="333840"/>
                </a:solidFill>
                <a:latin typeface="Arial"/>
              </a:rPr>
              <a:t>• Black-box predictions with limited transparency  </a:t>
            </a:r>
            <a:r>
              <a:rPr sz="1200" b="1">
                <a:solidFill>
                  <a:srgbClr val="333840"/>
                </a:solidFill>
                <a:latin typeface="Arial"/>
              </a:rPr>
              <a:t>→  Explainable evidence trail with measured performance — P 0.928 / R 0.965 / F1 0.946</a:t>
            </a:r>
          </a:p>
          <a:p>
            <a:pPr algn="l">
              <a:lnSpc>
                <a:spcPct val="122000"/>
              </a:lnSpc>
              <a:spcAft>
                <a:spcPts val="300"/>
              </a:spcAft>
            </a:pPr>
            <a:r>
              <a:rPr sz="1200" b="0">
                <a:solidFill>
                  <a:srgbClr val="333840"/>
                </a:solidFill>
                <a:latin typeface="Arial"/>
              </a:rPr>
              <a:t>• Perform poorly on sparse free-text reports  </a:t>
            </a:r>
            <a:r>
              <a:rPr sz="1200" b="1">
                <a:solidFill>
                  <a:srgbClr val="333840"/>
                </a:solidFill>
                <a:latin typeface="Arial"/>
              </a:rPr>
              <a:t>→  Degrades gracefully — weights renormalise onto typology and spatiotemporal signals</a:t>
            </a:r>
          </a:p>
          <a:p>
            <a:pPr algn="l">
              <a:lnSpc>
                <a:spcPct val="122000"/>
              </a:lnSpc>
              <a:spcAft>
                <a:spcPts val="300"/>
              </a:spcAft>
            </a:pPr>
            <a:r>
              <a:rPr sz="1200" b="0">
                <a:solidFill>
                  <a:srgbClr val="333840"/>
                </a:solidFill>
                <a:latin typeface="Arial"/>
              </a:rPr>
              <a:t>• Rely on external LLM APIs, with per-query cost and off-premises processing  </a:t>
            </a:r>
            <a:r>
              <a:rPr sz="1200" b="1">
                <a:solidFill>
                  <a:srgbClr val="333840"/>
                </a:solidFill>
                <a:latin typeface="Arial"/>
              </a:rPr>
              <a:t>→  On-premises friendly — deterministic scikit-learn, no LLM API, data stays in Catalyst</a:t>
            </a:r>
          </a:p>
          <a:p>
            <a:pPr algn="l">
              <a:lnSpc>
                <a:spcPct val="122000"/>
              </a:lnSpc>
              <a:spcAft>
                <a:spcPts val="400"/>
              </a:spcAft>
            </a:pPr>
            <a:r>
              <a:rPr sz="1350" b="1">
                <a:solidFill>
                  <a:srgbClr val="A8231B"/>
                </a:solidFill>
                <a:latin typeface="Arial"/>
              </a:rPr>
              <a:t>b.  How will it be able to solve the problem?</a:t>
            </a:r>
          </a:p>
          <a:p>
            <a:pPr algn="l">
              <a:lnSpc>
                <a:spcPct val="122000"/>
              </a:lnSpc>
              <a:spcAft>
                <a:spcPts val="700"/>
              </a:spcAft>
            </a:pPr>
            <a:r>
              <a:rPr sz="1300" b="0">
                <a:solidFill>
                  <a:srgbClr val="333840"/>
                </a:solidFill>
                <a:latin typeface="Arial"/>
              </a:rPr>
              <a:t>An investigating officer sees their own station's cases. Nobody is positioned to notice that four robberies in four different stations share a method, an hour and a radius. Drishti runs that comparison statewide and returns a ranked list of groups worth reopening, with the evidence attached so the officer can judge it rather than trust it. It then closes the loop forward: a newly registered FIR is scored against every known group as it lands, so a case joins a pattern </a:t>
            </a:r>
            <a:r>
              <a:rPr sz="1300" b="1">
                <a:solidFill>
                  <a:srgbClr val="333840"/>
                </a:solidFill>
                <a:latin typeface="Arial"/>
              </a:rPr>
              <a:t>before</a:t>
            </a:r>
            <a:r>
              <a:rPr sz="1300" b="0">
                <a:solidFill>
                  <a:srgbClr val="333840"/>
                </a:solidFill>
                <a:latin typeface="Arial"/>
              </a:rPr>
              <a:t> it is worked as an isolated file.</a:t>
            </a:r>
          </a:p>
          <a:p>
            <a:pPr algn="l">
              <a:lnSpc>
                <a:spcPct val="122000"/>
              </a:lnSpc>
              <a:spcAft>
                <a:spcPts val="400"/>
              </a:spcAft>
            </a:pPr>
            <a:r>
              <a:rPr sz="1350" b="1">
                <a:solidFill>
                  <a:srgbClr val="A8231B"/>
                </a:solidFill>
                <a:latin typeface="Arial"/>
              </a:rPr>
              <a:t>c.  USP of the proposed solution</a:t>
            </a:r>
          </a:p>
          <a:p>
            <a:pPr algn="l">
              <a:lnSpc>
                <a:spcPct val="122000"/>
              </a:lnSpc>
              <a:spcAft>
                <a:spcPts val="300"/>
              </a:spcAft>
            </a:pPr>
            <a:r>
              <a:rPr sz="1300" b="1">
                <a:solidFill>
                  <a:srgbClr val="333840"/>
                </a:solidFill>
                <a:latin typeface="Arial"/>
              </a:rPr>
              <a:t>Works without an offender ID</a:t>
            </a:r>
            <a:r>
              <a:rPr sz="1300" b="0">
                <a:solidFill>
                  <a:srgbClr val="333840"/>
                </a:solidFill>
                <a:latin typeface="Arial"/>
              </a:rPr>
              <a:t> — linkage is behavioural, so it runs on the existing FIR schema unchanged.</a:t>
            </a:r>
          </a:p>
          <a:p>
            <a:pPr algn="l">
              <a:lnSpc>
                <a:spcPct val="122000"/>
              </a:lnSpc>
              <a:spcAft>
                <a:spcPts val="300"/>
              </a:spcAft>
            </a:pPr>
            <a:r>
              <a:rPr sz="1300" b="1">
                <a:solidFill>
                  <a:srgbClr val="333840"/>
                </a:solidFill>
                <a:latin typeface="Arial"/>
              </a:rPr>
              <a:t>Every claim is evidence-backed</a:t>
            </a:r>
            <a:r>
              <a:rPr sz="1300" b="0">
                <a:solidFill>
                  <a:srgbClr val="333840"/>
                </a:solidFill>
                <a:latin typeface="Arial"/>
              </a:rPr>
              <a:t> — per-signal contributions and cited CrimeNo values. If the engine cannot cite it, it does not say it.</a:t>
            </a:r>
          </a:p>
          <a:p>
            <a:pPr algn="l">
              <a:lnSpc>
                <a:spcPct val="122000"/>
              </a:lnSpc>
              <a:spcAft>
                <a:spcPts val="300"/>
              </a:spcAft>
            </a:pPr>
            <a:r>
              <a:rPr sz="1300" b="1">
                <a:solidFill>
                  <a:srgbClr val="333840"/>
                </a:solidFill>
                <a:latin typeface="Arial"/>
              </a:rPr>
              <a:t>Accuracy measured inside the product</a:t>
            </a:r>
            <a:r>
              <a:rPr sz="1300" b="0">
                <a:solidFill>
                  <a:srgbClr val="333840"/>
                </a:solidFill>
                <a:latin typeface="Arial"/>
              </a:rPr>
              <a:t> — precision 0.928, recall 0.965, F1 0.946, computed live by the same engine that serves the app.</a:t>
            </a:r>
          </a:p>
          <a:p>
            <a:pPr algn="l">
              <a:lnSpc>
                <a:spcPct val="122000"/>
              </a:lnSpc>
              <a:spcAft>
                <a:spcPts val="300"/>
              </a:spcAft>
            </a:pPr>
            <a:r>
              <a:rPr sz="1300" b="1">
                <a:solidFill>
                  <a:srgbClr val="333840"/>
                </a:solidFill>
                <a:latin typeface="Arial"/>
              </a:rPr>
              <a:t>Identity carries zero weight, and we proved that was right</a:t>
            </a:r>
            <a:r>
              <a:rPr sz="1300" b="0">
                <a:solidFill>
                  <a:srgbClr val="333840"/>
                </a:solidFill>
                <a:latin typeface="Arial"/>
              </a:rPr>
              <a:t> — letting the accused name influence linkage made the engine measurably worse, so we removed it.</a:t>
            </a:r>
          </a:p>
          <a:p>
            <a:pPr algn="l">
              <a:lnSpc>
                <a:spcPct val="122000"/>
              </a:lnSpc>
              <a:spcAft>
                <a:spcPts val="700"/>
              </a:spcAft>
            </a:pPr>
            <a:r>
              <a:rPr sz="1300" b="1">
                <a:solidFill>
                  <a:srgbClr val="333840"/>
                </a:solidFill>
                <a:latin typeface="Arial"/>
              </a:rPr>
              <a:t>Moves from detection to prevention</a:t>
            </a:r>
            <a:r>
              <a:rPr sz="1300" b="0">
                <a:solidFill>
                  <a:srgbClr val="333840"/>
                </a:solidFill>
                <a:latin typeface="Arial"/>
              </a:rPr>
              <a:t> — a projected window and area for each group's next offence, back-tested at 92.9% on area.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List of features offered by the solution</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400"/>
              </a:spcAft>
            </a:pPr>
            <a:r>
              <a:rPr sz="1250" b="1">
                <a:solidFill>
                  <a:srgbClr val="333840"/>
                </a:solidFill>
                <a:latin typeface="Arial"/>
              </a:rPr>
              <a:t>Undetected case linkage</a:t>
            </a:r>
            <a:r>
              <a:rPr sz="1250" b="0">
                <a:solidFill>
                  <a:srgbClr val="333840"/>
                </a:solidFill>
                <a:latin typeface="Arial"/>
              </a:rPr>
              <a:t> — behavioural fingerprint over seven weighted signals, composite pairwise similarity, agglomerative clustering into ranked offender groups</a:t>
            </a:r>
          </a:p>
          <a:p>
            <a:pPr algn="l">
              <a:lnSpc>
                <a:spcPct val="122000"/>
              </a:lnSpc>
              <a:spcAft>
                <a:spcPts val="400"/>
              </a:spcAft>
            </a:pPr>
            <a:r>
              <a:rPr sz="1250" b="1">
                <a:solidFill>
                  <a:srgbClr val="333840"/>
                </a:solidFill>
                <a:latin typeface="Arial"/>
              </a:rPr>
              <a:t>Evidence trail on every link</a:t>
            </a:r>
            <a:r>
              <a:rPr sz="1250" b="0">
                <a:solidFill>
                  <a:srgbClr val="333840"/>
                </a:solidFill>
                <a:latin typeface="Arial"/>
              </a:rPr>
              <a:t> — per-signal contribution breakdown, cited FIR numbers, spatial span and a full case timeline</a:t>
            </a:r>
          </a:p>
          <a:p>
            <a:pPr algn="l">
              <a:lnSpc>
                <a:spcPct val="122000"/>
              </a:lnSpc>
              <a:spcAft>
                <a:spcPts val="400"/>
              </a:spcAft>
            </a:pPr>
            <a:r>
              <a:rPr sz="1250" b="1">
                <a:solidFill>
                  <a:srgbClr val="333840"/>
                </a:solidFill>
                <a:latin typeface="Arial"/>
              </a:rPr>
              <a:t>Next-strike projection</a:t>
            </a:r>
            <a:r>
              <a:rPr sz="1250" b="0">
                <a:solidFill>
                  <a:srgbClr val="333840"/>
                </a:solidFill>
                <a:latin typeface="Arial"/>
              </a:rPr>
              <a:t> — time window, area radius and usual hours from the group's median inter-event gap and 90th-percentile spread, with a stated confidence</a:t>
            </a:r>
          </a:p>
          <a:p>
            <a:pPr algn="l">
              <a:lnSpc>
                <a:spcPct val="122000"/>
              </a:lnSpc>
              <a:spcAft>
                <a:spcPts val="400"/>
              </a:spcAft>
            </a:pPr>
            <a:r>
              <a:rPr sz="1250" b="1">
                <a:solidFill>
                  <a:srgbClr val="333840"/>
                </a:solidFill>
                <a:latin typeface="Arial"/>
              </a:rPr>
              <a:t>Live FIR triage</a:t>
            </a:r>
            <a:r>
              <a:rPr sz="1250" b="0">
                <a:solidFill>
                  <a:srgbClr val="333840"/>
                </a:solidFill>
                <a:latin typeface="Arial"/>
              </a:rPr>
              <a:t> — an incoming case scored against every known group and graded against that group's own cohesion — Escalate, Review, or treat as unlinked</a:t>
            </a:r>
          </a:p>
          <a:p>
            <a:pPr algn="l">
              <a:lnSpc>
                <a:spcPct val="122000"/>
              </a:lnSpc>
              <a:spcAft>
                <a:spcPts val="400"/>
              </a:spcAft>
            </a:pPr>
            <a:r>
              <a:rPr sz="1250" b="1">
                <a:solidFill>
                  <a:srgbClr val="333840"/>
                </a:solidFill>
                <a:latin typeface="Arial"/>
              </a:rPr>
              <a:t>Persons of interest</a:t>
            </a:r>
            <a:r>
              <a:rPr sz="1250" b="0">
                <a:solidFill>
                  <a:srgbClr val="333840"/>
                </a:solidFill>
                <a:latin typeface="Arial"/>
              </a:rPr>
              <a:t> — cross-FIR name resolution with fuzzy matching for transliteration drift</a:t>
            </a:r>
          </a:p>
          <a:p>
            <a:pPr algn="l">
              <a:lnSpc>
                <a:spcPct val="122000"/>
              </a:lnSpc>
              <a:spcAft>
                <a:spcPts val="400"/>
              </a:spcAft>
            </a:pPr>
            <a:r>
              <a:rPr sz="1250" b="1">
                <a:solidFill>
                  <a:srgbClr val="333840"/>
                </a:solidFill>
                <a:latin typeface="Arial"/>
              </a:rPr>
              <a:t>Interactive 3D district map</a:t>
            </a:r>
            <a:r>
              <a:rPr sz="1250" b="0">
                <a:solidFill>
                  <a:srgbClr val="333840"/>
                </a:solidFill>
                <a:latin typeface="Arial"/>
              </a:rPr>
              <a:t> — WebGL terrain extruded from real district boundaries, with case pins, linked-group webs and the projected zone</a:t>
            </a:r>
          </a:p>
          <a:p>
            <a:pPr algn="l">
              <a:lnSpc>
                <a:spcPct val="122000"/>
              </a:lnSpc>
              <a:spcAft>
                <a:spcPts val="400"/>
              </a:spcAft>
            </a:pPr>
            <a:r>
              <a:rPr sz="1250" b="1">
                <a:solidFill>
                  <a:srgbClr val="333840"/>
                </a:solidFill>
                <a:latin typeface="Arial"/>
              </a:rPr>
              <a:t>Natural-language search</a:t>
            </a:r>
            <a:r>
              <a:rPr sz="1250" b="0">
                <a:solidFill>
                  <a:srgbClr val="333840"/>
                </a:solidFill>
                <a:latin typeface="Arial"/>
              </a:rPr>
              <a:t> — retrieval-only, so every answer cites real records and cannot fabricate</a:t>
            </a:r>
          </a:p>
          <a:p>
            <a:pPr algn="l">
              <a:lnSpc>
                <a:spcPct val="122000"/>
              </a:lnSpc>
              <a:spcAft>
                <a:spcPts val="400"/>
              </a:spcAft>
            </a:pPr>
            <a:r>
              <a:rPr sz="1250" b="1">
                <a:solidFill>
                  <a:srgbClr val="333840"/>
                </a:solidFill>
                <a:latin typeface="Arial"/>
              </a:rPr>
              <a:t>Printable case brief</a:t>
            </a:r>
            <a:r>
              <a:rPr sz="1250" b="0">
                <a:solidFill>
                  <a:srgbClr val="333840"/>
                </a:solidFill>
                <a:latin typeface="Arial"/>
              </a:rPr>
              <a:t> — server-rendered PDF dossier with evidence, timeline, forecast and signature block</a:t>
            </a:r>
          </a:p>
          <a:p>
            <a:pPr algn="l">
              <a:lnSpc>
                <a:spcPct val="122000"/>
              </a:lnSpc>
              <a:spcAft>
                <a:spcPts val="400"/>
              </a:spcAft>
            </a:pPr>
            <a:r>
              <a:rPr sz="1250" b="1">
                <a:solidFill>
                  <a:srgbClr val="333840"/>
                </a:solidFill>
                <a:latin typeface="Arial"/>
              </a:rPr>
              <a:t>Role-based access control</a:t>
            </a:r>
            <a:r>
              <a:rPr sz="1250" b="0">
                <a:solidFill>
                  <a:srgbClr val="333840"/>
                </a:solidFill>
                <a:latin typeface="Arial"/>
              </a:rPr>
              <a:t> — investigator, analyst and supervisor, enforced at the API gateway; investigators scoped to their district</a:t>
            </a:r>
          </a:p>
          <a:p>
            <a:pPr algn="l">
              <a:lnSpc>
                <a:spcPct val="122000"/>
              </a:lnSpc>
              <a:spcAft>
                <a:spcPts val="400"/>
              </a:spcAft>
            </a:pPr>
            <a:r>
              <a:rPr sz="1250" b="1">
                <a:solidFill>
                  <a:srgbClr val="333840"/>
                </a:solidFill>
                <a:latin typeface="Arial"/>
              </a:rPr>
              <a:t>In-product accuracy panel</a:t>
            </a:r>
            <a:r>
              <a:rPr sz="1250" b="0">
                <a:solidFill>
                  <a:srgbClr val="333840"/>
                </a:solidFill>
                <a:latin typeface="Arial"/>
              </a:rPr>
              <a:t> — precision, recall, F1, per-signal ablation and a written statement of where the method fails</a:t>
            </a:r>
          </a:p>
          <a:p>
            <a:pPr algn="l">
              <a:lnSpc>
                <a:spcPct val="122000"/>
              </a:lnSpc>
              <a:spcAft>
                <a:spcPts val="400"/>
              </a:spcAft>
            </a:pPr>
            <a:r>
              <a:rPr sz="1250" b="1">
                <a:solidFill>
                  <a:srgbClr val="333840"/>
                </a:solidFill>
                <a:latin typeface="Arial"/>
              </a:rPr>
              <a:t>Bilingual interface</a:t>
            </a:r>
            <a:r>
              <a:rPr sz="1250" b="0">
                <a:solidFill>
                  <a:srgbClr val="333840"/>
                </a:solidFill>
                <a:latin typeface="Arial"/>
              </a:rPr>
              <a:t> — English and Kannada across all labels and explanations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Process flow diagram</a:t>
            </a:r>
          </a:p>
        </p:txBody>
      </p:sp>
      <p:pic>
        <p:nvPicPr>
          <p:cNvPr id="5" name="Picture 4" descr="dg_flow.png"/>
          <p:cNvPicPr>
            <a:picLocks noChangeAspect="1"/>
          </p:cNvPicPr>
          <p:nvPr/>
        </p:nvPicPr>
        <p:blipFill>
          <a:blip r:embed="rId4"/>
          <a:stretch>
            <a:fillRect/>
          </a:stretch>
        </p:blipFill>
        <p:spPr>
          <a:xfrm>
            <a:off x="548640" y="1664529"/>
            <a:ext cx="11109960" cy="2684563"/>
          </a:xfrm>
          <a:prstGeom prst="rect">
            <a:avLst/>
          </a:prstGeom>
        </p:spPr>
      </p:pic>
      <p:sp>
        <p:nvSpPr>
          <p:cNvPr id="6" name="TextBox 5"/>
          <p:cNvSpPr txBox="1"/>
          <p:nvPr/>
        </p:nvSpPr>
        <p:spPr>
          <a:xfrm>
            <a:off x="502920" y="4316289"/>
            <a:ext cx="11185855" cy="2194560"/>
          </a:xfrm>
          <a:prstGeom prst="rect">
            <a:avLst/>
          </a:prstGeom>
          <a:noFill/>
        </p:spPr>
        <p:txBody>
          <a:bodyPr wrap="square">
            <a:spAutoFit/>
          </a:bodyPr>
          <a:lstStyle/>
          <a:p>
            <a:pPr algn="l">
              <a:lnSpc>
                <a:spcPct val="122000"/>
              </a:lnSpc>
              <a:spcAft>
                <a:spcPts val="900"/>
              </a:spcAft>
            </a:pPr>
            <a:r>
              <a:rPr sz="1250" b="0">
                <a:solidFill>
                  <a:srgbClr val="666C77"/>
                </a:solidFill>
                <a:latin typeface="Arial"/>
              </a:rPr>
              <a:t>The same fingerprint runs in both passes — that is what lets a brand-new FIR be judged against groups built from the archive, and why the two lanes are one system rather than two.</a:t>
            </a:r>
          </a:p>
          <a:p>
            <a:pPr algn="l">
              <a:lnSpc>
                <a:spcPct val="122000"/>
              </a:lnSpc>
              <a:spcAft>
                <a:spcPts val="500"/>
              </a:spcAft>
            </a:pPr>
            <a:r>
              <a:rPr sz="1250" b="1">
                <a:solidFill>
                  <a:srgbClr val="333840"/>
                </a:solidFill>
                <a:latin typeface="Arial"/>
              </a:rPr>
              <a:t>Archive pass</a:t>
            </a:r>
            <a:r>
              <a:rPr sz="1250" b="0">
                <a:solidFill>
                  <a:srgbClr val="333840"/>
                </a:solidFill>
                <a:latin typeface="Arial"/>
              </a:rPr>
              <a:t> — every undetected FIR is fingerprinted on seven weighted signals, scored against every other case, and clustered. Groups are then ranked by cohesion multiplied by actionability, which favours jurisdictional reach, recency and gravity. Runs nightly.</a:t>
            </a:r>
          </a:p>
          <a:p>
            <a:pPr algn="l">
              <a:lnSpc>
                <a:spcPct val="122000"/>
              </a:lnSpc>
              <a:spcAft>
                <a:spcPts val="500"/>
              </a:spcAft>
            </a:pPr>
            <a:r>
              <a:rPr sz="1250" b="1">
                <a:solidFill>
                  <a:srgbClr val="333840"/>
                </a:solidFill>
                <a:latin typeface="Arial"/>
              </a:rPr>
              <a:t>Live intake</a:t>
            </a:r>
            <a:r>
              <a:rPr sz="1250" b="0">
                <a:solidFill>
                  <a:srgbClr val="333840"/>
                </a:solidFill>
                <a:latin typeface="Arial"/>
              </a:rPr>
              <a:t> — a newly registered FIR is fingerprinted identically and scored against each group, then graded against that group's own internal cohesion rather than a fixed threshold. A tight group demands a high score; a loose one cannot reach it.</a:t>
            </a:r>
          </a:p>
          <a:p>
            <a:pPr algn="l">
              <a:lnSpc>
                <a:spcPct val="122000"/>
              </a:lnSpc>
              <a:spcAft>
                <a:spcPts val="700"/>
              </a:spcAft>
            </a:pPr>
            <a:r>
              <a:rPr sz="1250" b="1">
                <a:solidFill>
                  <a:srgbClr val="333840"/>
                </a:solidFill>
                <a:latin typeface="Arial"/>
              </a:rPr>
              <a:t>Nothing is asserted.</a:t>
            </a:r>
            <a:r>
              <a:rPr sz="1250" b="0">
                <a:solidFill>
                  <a:srgbClr val="333840"/>
                </a:solidFill>
                <a:latin typeface="Arial"/>
              </a:rPr>
              <a:t> Each group carries the per-signal contributions that produced it and the real FIR numbers it cites, so an investigator can audit the reasoning rather than trust the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Wireframes / Mock diagrams of the proposed solution</a:t>
            </a:r>
          </a:p>
        </p:txBody>
      </p:sp>
      <p:pic>
        <p:nvPicPr>
          <p:cNvPr id="5" name="Picture 4" descr="dg_wire.png"/>
          <p:cNvPicPr>
            <a:picLocks noChangeAspect="1"/>
          </p:cNvPicPr>
          <p:nvPr/>
        </p:nvPicPr>
        <p:blipFill>
          <a:blip r:embed="rId4"/>
          <a:stretch>
            <a:fillRect/>
          </a:stretch>
        </p:blipFill>
        <p:spPr>
          <a:xfrm>
            <a:off x="960120" y="1490793"/>
            <a:ext cx="10241280" cy="4471545"/>
          </a:xfrm>
          <a:prstGeom prst="rect">
            <a:avLst/>
          </a:prstGeom>
        </p:spPr>
      </p:pic>
      <p:sp>
        <p:nvSpPr>
          <p:cNvPr id="6" name="TextBox 5"/>
          <p:cNvSpPr txBox="1"/>
          <p:nvPr/>
        </p:nvSpPr>
        <p:spPr>
          <a:xfrm>
            <a:off x="502920" y="6144768"/>
            <a:ext cx="11185855" cy="54864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Three regions, each doing one job: navigation on the rail, the map as the workspace, and the dossier where a lead opens into a full case file with its evidence. Live screens of this layout follow on the next slides.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Architecture diagram of the proposed solution</a:t>
            </a:r>
          </a:p>
        </p:txBody>
      </p:sp>
      <p:pic>
        <p:nvPicPr>
          <p:cNvPr id="5" name="Picture 4" descr="dg_arch.png"/>
          <p:cNvPicPr>
            <a:picLocks noChangeAspect="1"/>
          </p:cNvPicPr>
          <p:nvPr/>
        </p:nvPicPr>
        <p:blipFill>
          <a:blip r:embed="rId4"/>
          <a:stretch>
            <a:fillRect/>
          </a:stretch>
        </p:blipFill>
        <p:spPr>
          <a:xfrm>
            <a:off x="1874519" y="1435929"/>
            <a:ext cx="9294090" cy="4315968"/>
          </a:xfrm>
          <a:prstGeom prst="rect">
            <a:avLst/>
          </a:prstGeom>
        </p:spPr>
      </p:pic>
      <p:sp>
        <p:nvSpPr>
          <p:cNvPr id="6" name="TextBox 5"/>
          <p:cNvSpPr txBox="1"/>
          <p:nvPr/>
        </p:nvSpPr>
        <p:spPr>
          <a:xfrm>
            <a:off x="502920" y="6108192"/>
            <a:ext cx="11185855" cy="548640"/>
          </a:xfrm>
          <a:prstGeom prst="rect">
            <a:avLst/>
          </a:prstGeom>
          <a:noFill/>
        </p:spPr>
        <p:txBody>
          <a:bodyPr wrap="square">
            <a:spAutoFit/>
          </a:bodyPr>
          <a:lstStyle/>
          <a:p>
            <a:pPr algn="l">
              <a:lnSpc>
                <a:spcPct val="122000"/>
              </a:lnSpc>
              <a:spcAft>
                <a:spcPts val="700"/>
              </a:spcAft>
            </a:pPr>
            <a:r>
              <a:rPr sz="1200" b="0">
                <a:solidFill>
                  <a:srgbClr val="666C77"/>
                </a:solidFill>
                <a:latin typeface="Arial"/>
              </a:rPr>
              <a:t>Access control sits at the gateway, so no request reaches case data before a role is resolved. The engine is the only component that touches the Data Store.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Technologies to be used in the solution</a:t>
            </a:r>
          </a:p>
        </p:txBody>
      </p:sp>
      <p:sp>
        <p:nvSpPr>
          <p:cNvPr id="5" name="TextBox 4"/>
          <p:cNvSpPr txBox="1"/>
          <p:nvPr/>
        </p:nvSpPr>
        <p:spPr>
          <a:xfrm>
            <a:off x="502920" y="1618809"/>
            <a:ext cx="2651760" cy="310896"/>
          </a:xfrm>
          <a:prstGeom prst="rect">
            <a:avLst/>
          </a:prstGeom>
          <a:noFill/>
        </p:spPr>
        <p:txBody>
          <a:bodyPr wrap="square">
            <a:spAutoFit/>
          </a:bodyPr>
          <a:lstStyle/>
          <a:p>
            <a:pPr algn="l"/>
            <a:r>
              <a:rPr sz="1300" b="1">
                <a:solidFill>
                  <a:srgbClr val="111111"/>
                </a:solidFill>
                <a:latin typeface="Arial"/>
              </a:rPr>
              <a:t>Frontend</a:t>
            </a:r>
          </a:p>
        </p:txBody>
      </p:sp>
      <p:sp>
        <p:nvSpPr>
          <p:cNvPr id="6" name="TextBox 5"/>
          <p:cNvSpPr txBox="1"/>
          <p:nvPr/>
        </p:nvSpPr>
        <p:spPr>
          <a:xfrm>
            <a:off x="3154680" y="1618809"/>
            <a:ext cx="8503920" cy="310896"/>
          </a:xfrm>
          <a:prstGeom prst="rect">
            <a:avLst/>
          </a:prstGeom>
          <a:noFill/>
        </p:spPr>
        <p:txBody>
          <a:bodyPr wrap="square">
            <a:spAutoFit/>
          </a:bodyPr>
          <a:lstStyle/>
          <a:p>
            <a:pPr algn="l"/>
            <a:r>
              <a:rPr sz="1300">
                <a:solidFill>
                  <a:srgbClr val="333840"/>
                </a:solidFill>
                <a:latin typeface="Arial"/>
              </a:rPr>
              <a:t>React 19, TypeScript, Three.js with React-Three-Fiber (WebGL 3D map)</a:t>
            </a:r>
          </a:p>
        </p:txBody>
      </p:sp>
      <p:sp>
        <p:nvSpPr>
          <p:cNvPr id="7" name="TextBox 6"/>
          <p:cNvSpPr txBox="1"/>
          <p:nvPr/>
        </p:nvSpPr>
        <p:spPr>
          <a:xfrm>
            <a:off x="502920" y="1947993"/>
            <a:ext cx="2651760" cy="310896"/>
          </a:xfrm>
          <a:prstGeom prst="rect">
            <a:avLst/>
          </a:prstGeom>
          <a:noFill/>
        </p:spPr>
        <p:txBody>
          <a:bodyPr wrap="square">
            <a:spAutoFit/>
          </a:bodyPr>
          <a:lstStyle/>
          <a:p>
            <a:pPr algn="l"/>
            <a:r>
              <a:rPr sz="1300" b="1">
                <a:solidFill>
                  <a:srgbClr val="111111"/>
                </a:solidFill>
                <a:latin typeface="Arial"/>
              </a:rPr>
              <a:t>Machine learning</a:t>
            </a:r>
          </a:p>
        </p:txBody>
      </p:sp>
      <p:sp>
        <p:nvSpPr>
          <p:cNvPr id="8" name="TextBox 7"/>
          <p:cNvSpPr txBox="1"/>
          <p:nvPr/>
        </p:nvSpPr>
        <p:spPr>
          <a:xfrm>
            <a:off x="3154680" y="1947993"/>
            <a:ext cx="8503920" cy="310896"/>
          </a:xfrm>
          <a:prstGeom prst="rect">
            <a:avLst/>
          </a:prstGeom>
          <a:noFill/>
        </p:spPr>
        <p:txBody>
          <a:bodyPr wrap="square">
            <a:spAutoFit/>
          </a:bodyPr>
          <a:lstStyle/>
          <a:p>
            <a:pPr algn="l"/>
            <a:r>
              <a:rPr sz="1300">
                <a:solidFill>
                  <a:srgbClr val="333840"/>
                </a:solidFill>
                <a:latin typeface="Arial"/>
              </a:rPr>
              <a:t>Python 3.13, scikit-learn (TF-IDF, AgglomerativeClustering), NumPy, SciPy, NetworkX</a:t>
            </a:r>
          </a:p>
        </p:txBody>
      </p:sp>
      <p:sp>
        <p:nvSpPr>
          <p:cNvPr id="9" name="TextBox 8"/>
          <p:cNvSpPr txBox="1"/>
          <p:nvPr/>
        </p:nvSpPr>
        <p:spPr>
          <a:xfrm>
            <a:off x="502920" y="2277177"/>
            <a:ext cx="2651760" cy="310896"/>
          </a:xfrm>
          <a:prstGeom prst="rect">
            <a:avLst/>
          </a:prstGeom>
          <a:noFill/>
        </p:spPr>
        <p:txBody>
          <a:bodyPr wrap="square">
            <a:spAutoFit/>
          </a:bodyPr>
          <a:lstStyle/>
          <a:p>
            <a:pPr algn="l"/>
            <a:r>
              <a:rPr sz="1300" b="1">
                <a:solidFill>
                  <a:srgbClr val="111111"/>
                </a:solidFill>
                <a:latin typeface="Arial"/>
              </a:rPr>
              <a:t>API layer</a:t>
            </a:r>
          </a:p>
        </p:txBody>
      </p:sp>
      <p:sp>
        <p:nvSpPr>
          <p:cNvPr id="10" name="TextBox 9"/>
          <p:cNvSpPr txBox="1"/>
          <p:nvPr/>
        </p:nvSpPr>
        <p:spPr>
          <a:xfrm>
            <a:off x="3154680" y="2277177"/>
            <a:ext cx="8503920" cy="310896"/>
          </a:xfrm>
          <a:prstGeom prst="rect">
            <a:avLst/>
          </a:prstGeom>
          <a:noFill/>
        </p:spPr>
        <p:txBody>
          <a:bodyPr wrap="square">
            <a:spAutoFit/>
          </a:bodyPr>
          <a:lstStyle/>
          <a:p>
            <a:pPr algn="l"/>
            <a:r>
              <a:rPr sz="1300">
                <a:solidFill>
                  <a:srgbClr val="333840"/>
                </a:solidFill>
                <a:latin typeface="Arial"/>
              </a:rPr>
              <a:t>Flask on AppSail; Catalyst Serverless Function (AdvancedIO) as the gateway</a:t>
            </a:r>
          </a:p>
        </p:txBody>
      </p:sp>
      <p:sp>
        <p:nvSpPr>
          <p:cNvPr id="11" name="TextBox 10"/>
          <p:cNvSpPr txBox="1"/>
          <p:nvPr/>
        </p:nvSpPr>
        <p:spPr>
          <a:xfrm>
            <a:off x="502920" y="2606361"/>
            <a:ext cx="2651760" cy="310896"/>
          </a:xfrm>
          <a:prstGeom prst="rect">
            <a:avLst/>
          </a:prstGeom>
          <a:noFill/>
        </p:spPr>
        <p:txBody>
          <a:bodyPr wrap="square">
            <a:spAutoFit/>
          </a:bodyPr>
          <a:lstStyle/>
          <a:p>
            <a:pPr algn="l"/>
            <a:r>
              <a:rPr sz="1300" b="1">
                <a:solidFill>
                  <a:srgbClr val="111111"/>
                </a:solidFill>
                <a:latin typeface="Arial"/>
              </a:rPr>
              <a:t>Document generation</a:t>
            </a:r>
          </a:p>
        </p:txBody>
      </p:sp>
      <p:sp>
        <p:nvSpPr>
          <p:cNvPr id="12" name="TextBox 11"/>
          <p:cNvSpPr txBox="1"/>
          <p:nvPr/>
        </p:nvSpPr>
        <p:spPr>
          <a:xfrm>
            <a:off x="3154680" y="2606361"/>
            <a:ext cx="8503920" cy="310896"/>
          </a:xfrm>
          <a:prstGeom prst="rect">
            <a:avLst/>
          </a:prstGeom>
          <a:noFill/>
        </p:spPr>
        <p:txBody>
          <a:bodyPr wrap="square">
            <a:spAutoFit/>
          </a:bodyPr>
          <a:lstStyle/>
          <a:p>
            <a:pPr algn="l"/>
            <a:r>
              <a:rPr sz="1300">
                <a:solidFill>
                  <a:srgbClr val="333840"/>
                </a:solidFill>
                <a:latin typeface="Arial"/>
              </a:rPr>
              <a:t>fpdf2 for the server-rendered case brief; SmartBrowz as the Catalyst-native renderer</a:t>
            </a:r>
          </a:p>
        </p:txBody>
      </p:sp>
      <p:sp>
        <p:nvSpPr>
          <p:cNvPr id="13" name="TextBox 12"/>
          <p:cNvSpPr txBox="1"/>
          <p:nvPr/>
        </p:nvSpPr>
        <p:spPr>
          <a:xfrm>
            <a:off x="502920" y="2935545"/>
            <a:ext cx="2651760" cy="310896"/>
          </a:xfrm>
          <a:prstGeom prst="rect">
            <a:avLst/>
          </a:prstGeom>
          <a:noFill/>
        </p:spPr>
        <p:txBody>
          <a:bodyPr wrap="square">
            <a:spAutoFit/>
          </a:bodyPr>
          <a:lstStyle/>
          <a:p>
            <a:pPr algn="l"/>
            <a:r>
              <a:rPr sz="1300" b="1">
                <a:solidFill>
                  <a:srgbClr val="111111"/>
                </a:solidFill>
                <a:latin typeface="Arial"/>
              </a:rPr>
              <a:t>Data</a:t>
            </a:r>
          </a:p>
        </p:txBody>
      </p:sp>
      <p:sp>
        <p:nvSpPr>
          <p:cNvPr id="14" name="TextBox 13"/>
          <p:cNvSpPr txBox="1"/>
          <p:nvPr/>
        </p:nvSpPr>
        <p:spPr>
          <a:xfrm>
            <a:off x="3154680" y="2935545"/>
            <a:ext cx="8503920" cy="310896"/>
          </a:xfrm>
          <a:prstGeom prst="rect">
            <a:avLst/>
          </a:prstGeom>
          <a:noFill/>
        </p:spPr>
        <p:txBody>
          <a:bodyPr wrap="square">
            <a:spAutoFit/>
          </a:bodyPr>
          <a:lstStyle/>
          <a:p>
            <a:pPr algn="l"/>
            <a:r>
              <a:rPr sz="1300">
                <a:solidFill>
                  <a:srgbClr val="333840"/>
                </a:solidFill>
                <a:latin typeface="Arial"/>
              </a:rPr>
              <a:t>Catalyst Data Store queried with ZCQL; schema-faithful CSV fallback</a:t>
            </a:r>
          </a:p>
        </p:txBody>
      </p:sp>
      <p:sp>
        <p:nvSpPr>
          <p:cNvPr id="15" name="TextBox 14"/>
          <p:cNvSpPr txBox="1"/>
          <p:nvPr/>
        </p:nvSpPr>
        <p:spPr>
          <a:xfrm>
            <a:off x="502920" y="3264729"/>
            <a:ext cx="2651760" cy="310896"/>
          </a:xfrm>
          <a:prstGeom prst="rect">
            <a:avLst/>
          </a:prstGeom>
          <a:noFill/>
        </p:spPr>
        <p:txBody>
          <a:bodyPr wrap="square">
            <a:spAutoFit/>
          </a:bodyPr>
          <a:lstStyle/>
          <a:p>
            <a:pPr algn="l"/>
            <a:r>
              <a:rPr sz="1300" b="1">
                <a:solidFill>
                  <a:srgbClr val="111111"/>
                </a:solidFill>
                <a:latin typeface="Arial"/>
              </a:rPr>
              <a:t>Geospatial</a:t>
            </a:r>
          </a:p>
        </p:txBody>
      </p:sp>
      <p:sp>
        <p:nvSpPr>
          <p:cNvPr id="16" name="TextBox 15"/>
          <p:cNvSpPr txBox="1"/>
          <p:nvPr/>
        </p:nvSpPr>
        <p:spPr>
          <a:xfrm>
            <a:off x="3154680" y="3264729"/>
            <a:ext cx="8503920" cy="310896"/>
          </a:xfrm>
          <a:prstGeom prst="rect">
            <a:avLst/>
          </a:prstGeom>
          <a:noFill/>
        </p:spPr>
        <p:txBody>
          <a:bodyPr wrap="square">
            <a:spAutoFit/>
          </a:bodyPr>
          <a:lstStyle/>
          <a:p>
            <a:pPr algn="l"/>
            <a:r>
              <a:rPr sz="1300">
                <a:solidFill>
                  <a:srgbClr val="333840"/>
                </a:solidFill>
                <a:latin typeface="Arial"/>
              </a:rPr>
              <a:t>Karnataka district boundary GeoJSON, Douglas-Peucker simplification, haversine distance</a:t>
            </a:r>
          </a:p>
        </p:txBody>
      </p:sp>
      <p:sp>
        <p:nvSpPr>
          <p:cNvPr id="17" name="TextBox 16"/>
          <p:cNvSpPr txBox="1"/>
          <p:nvPr/>
        </p:nvSpPr>
        <p:spPr>
          <a:xfrm>
            <a:off x="502920" y="3767649"/>
            <a:ext cx="11185855" cy="265176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Techniques</a:t>
            </a:r>
          </a:p>
          <a:p>
            <a:pPr algn="l">
              <a:lnSpc>
                <a:spcPct val="122000"/>
              </a:lnSpc>
              <a:spcAft>
                <a:spcPts val="900"/>
              </a:spcAft>
            </a:pPr>
            <a:r>
              <a:rPr sz="1250" b="0">
                <a:solidFill>
                  <a:srgbClr val="333840"/>
                </a:solidFill>
                <a:latin typeface="Arial"/>
              </a:rPr>
              <a:t>Behavioural fingerprinting · TF-IDF over complaint text · weighted composite similarity with per-pair weight renormalisation · agglomerative clustering on a precomputed distance matrix · leave-one-signal-out ablation · hold-one-out forecast back-testing · Douglas-Peucker simplification for the district meshes.</a:t>
            </a:r>
          </a:p>
          <a:p>
            <a:pPr algn="l">
              <a:lnSpc>
                <a:spcPct val="122000"/>
              </a:lnSpc>
              <a:spcAft>
                <a:spcPts val="500"/>
              </a:spcAft>
            </a:pPr>
            <a:r>
              <a:rPr sz="1300" b="1">
                <a:solidFill>
                  <a:srgbClr val="A8231B"/>
                </a:solidFill>
                <a:latin typeface="Arial"/>
              </a:rPr>
              <a:t>Design constraints we held to</a:t>
            </a:r>
          </a:p>
          <a:p>
            <a:pPr algn="l">
              <a:lnSpc>
                <a:spcPct val="122000"/>
              </a:lnSpc>
              <a:spcAft>
                <a:spcPts val="400"/>
              </a:spcAft>
            </a:pPr>
            <a:r>
              <a:rPr sz="1250" b="0">
                <a:solidFill>
                  <a:srgbClr val="333840"/>
                </a:solidFill>
                <a:latin typeface="Arial"/>
              </a:rPr>
              <a:t>• Clustering stays on </a:t>
            </a:r>
            <a:r>
              <a:rPr sz="1250" b="1">
                <a:solidFill>
                  <a:srgbClr val="333840"/>
                </a:solidFill>
                <a:latin typeface="Arial"/>
              </a:rPr>
              <a:t>scikit-learn primitives</a:t>
            </a:r>
            <a:r>
              <a:rPr sz="1250" b="0">
                <a:solidFill>
                  <a:srgbClr val="333840"/>
                </a:solidFill>
                <a:latin typeface="Arial"/>
              </a:rPr>
              <a:t> on purpose, so the whole engine installs from requirements.txt on the Catalyst managed runtime with </a:t>
            </a:r>
            <a:r>
              <a:rPr sz="1250" b="1">
                <a:solidFill>
                  <a:srgbClr val="333840"/>
                </a:solidFill>
                <a:latin typeface="Arial"/>
              </a:rPr>
              <a:t>no native compilation</a:t>
            </a:r>
            <a:r>
              <a:rPr sz="1250" b="0">
                <a:solidFill>
                  <a:srgbClr val="333840"/>
                </a:solidFill>
                <a:latin typeface="Arial"/>
              </a:rPr>
              <a:t>.</a:t>
            </a:r>
          </a:p>
          <a:p>
            <a:pPr algn="l">
              <a:lnSpc>
                <a:spcPct val="122000"/>
              </a:lnSpc>
              <a:spcAft>
                <a:spcPts val="400"/>
              </a:spcAft>
            </a:pPr>
            <a:r>
              <a:rPr sz="1250" b="1">
                <a:solidFill>
                  <a:srgbClr val="333840"/>
                </a:solidFill>
                <a:latin typeface="Arial"/>
              </a:rPr>
              <a:t>No external LLM API.</a:t>
            </a:r>
            <a:r>
              <a:rPr sz="1250" b="0">
                <a:solidFill>
                  <a:srgbClr val="333840"/>
                </a:solidFill>
                <a:latin typeface="Arial"/>
              </a:rPr>
              <a:t> Retrieval is deterministic, so no case data leaves the Catalyst environment and there is no per-query cost.</a:t>
            </a:r>
          </a:p>
          <a:p>
            <a:pPr algn="l">
              <a:lnSpc>
                <a:spcPct val="122000"/>
              </a:lnSpc>
              <a:spcAft>
                <a:spcPts val="700"/>
              </a:spcAft>
            </a:pPr>
            <a:r>
              <a:rPr sz="1250" b="1">
                <a:solidFill>
                  <a:srgbClr val="333840"/>
                </a:solidFill>
                <a:latin typeface="Arial"/>
              </a:rPr>
              <a:t>CPU only</a:t>
            </a:r>
            <a:r>
              <a:rPr sz="1250" b="0">
                <a:solidFill>
                  <a:srgbClr val="333840"/>
                </a:solidFill>
                <a:latin typeface="Arial"/>
              </a:rPr>
              <a:t> — no GPU anywhere in the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Catalyst Services being used in the solution</a:t>
            </a:r>
          </a:p>
        </p:txBody>
      </p:sp>
      <p:sp>
        <p:nvSpPr>
          <p:cNvPr id="5" name="TextBox 4"/>
          <p:cNvSpPr txBox="1"/>
          <p:nvPr/>
        </p:nvSpPr>
        <p:spPr>
          <a:xfrm>
            <a:off x="502920" y="1573089"/>
            <a:ext cx="2926080" cy="310896"/>
          </a:xfrm>
          <a:prstGeom prst="rect">
            <a:avLst/>
          </a:prstGeom>
          <a:noFill/>
        </p:spPr>
        <p:txBody>
          <a:bodyPr wrap="square">
            <a:spAutoFit/>
          </a:bodyPr>
          <a:lstStyle/>
          <a:p>
            <a:pPr algn="l"/>
            <a:r>
              <a:rPr sz="1250" b="1">
                <a:solidFill>
                  <a:srgbClr val="111111"/>
                </a:solidFill>
                <a:latin typeface="Arial"/>
              </a:rPr>
              <a:t>AppSail</a:t>
            </a:r>
          </a:p>
        </p:txBody>
      </p:sp>
      <p:sp>
        <p:nvSpPr>
          <p:cNvPr id="6" name="TextBox 5"/>
          <p:cNvSpPr txBox="1"/>
          <p:nvPr/>
        </p:nvSpPr>
        <p:spPr>
          <a:xfrm>
            <a:off x="3429000" y="1573089"/>
            <a:ext cx="8229600" cy="310896"/>
          </a:xfrm>
          <a:prstGeom prst="rect">
            <a:avLst/>
          </a:prstGeom>
          <a:noFill/>
        </p:spPr>
        <p:txBody>
          <a:bodyPr wrap="square">
            <a:spAutoFit/>
          </a:bodyPr>
          <a:lstStyle/>
          <a:p>
            <a:pPr algn="l"/>
            <a:r>
              <a:rPr sz="1250">
                <a:solidFill>
                  <a:srgbClr val="333840"/>
                </a:solidFill>
                <a:latin typeface="Arial"/>
              </a:rPr>
              <a:t>Hosts the ML engine — fingerprinting, clustering, forecast, triage, PDF</a:t>
            </a:r>
          </a:p>
        </p:txBody>
      </p:sp>
      <p:sp>
        <p:nvSpPr>
          <p:cNvPr id="7" name="TextBox 6"/>
          <p:cNvSpPr txBox="1"/>
          <p:nvPr/>
        </p:nvSpPr>
        <p:spPr>
          <a:xfrm>
            <a:off x="502920" y="1902273"/>
            <a:ext cx="2926080" cy="310896"/>
          </a:xfrm>
          <a:prstGeom prst="rect">
            <a:avLst/>
          </a:prstGeom>
          <a:noFill/>
        </p:spPr>
        <p:txBody>
          <a:bodyPr wrap="square">
            <a:spAutoFit/>
          </a:bodyPr>
          <a:lstStyle/>
          <a:p>
            <a:pPr algn="l"/>
            <a:r>
              <a:rPr sz="1250" b="1">
                <a:solidFill>
                  <a:srgbClr val="111111"/>
                </a:solidFill>
                <a:latin typeface="Arial"/>
              </a:rPr>
              <a:t>Serverless Functions</a:t>
            </a:r>
          </a:p>
        </p:txBody>
      </p:sp>
      <p:sp>
        <p:nvSpPr>
          <p:cNvPr id="8" name="TextBox 7"/>
          <p:cNvSpPr txBox="1"/>
          <p:nvPr/>
        </p:nvSpPr>
        <p:spPr>
          <a:xfrm>
            <a:off x="3429000" y="1902273"/>
            <a:ext cx="8229600" cy="310896"/>
          </a:xfrm>
          <a:prstGeom prst="rect">
            <a:avLst/>
          </a:prstGeom>
          <a:noFill/>
        </p:spPr>
        <p:txBody>
          <a:bodyPr wrap="square">
            <a:spAutoFit/>
          </a:bodyPr>
          <a:lstStyle/>
          <a:p>
            <a:pPr algn="l"/>
            <a:r>
              <a:rPr sz="1250">
                <a:solidFill>
                  <a:srgbClr val="333840"/>
                </a:solidFill>
                <a:latin typeface="Arial"/>
              </a:rPr>
              <a:t>API gateway; enforces role-based access before any case data is read</a:t>
            </a:r>
          </a:p>
        </p:txBody>
      </p:sp>
      <p:sp>
        <p:nvSpPr>
          <p:cNvPr id="9" name="TextBox 8"/>
          <p:cNvSpPr txBox="1"/>
          <p:nvPr/>
        </p:nvSpPr>
        <p:spPr>
          <a:xfrm>
            <a:off x="502920" y="2231457"/>
            <a:ext cx="2926080" cy="310896"/>
          </a:xfrm>
          <a:prstGeom prst="rect">
            <a:avLst/>
          </a:prstGeom>
          <a:noFill/>
        </p:spPr>
        <p:txBody>
          <a:bodyPr wrap="square">
            <a:spAutoFit/>
          </a:bodyPr>
          <a:lstStyle/>
          <a:p>
            <a:pPr algn="l"/>
            <a:r>
              <a:rPr sz="1250" b="1">
                <a:solidFill>
                  <a:srgbClr val="111111"/>
                </a:solidFill>
                <a:latin typeface="Arial"/>
              </a:rPr>
              <a:t>Data Store</a:t>
            </a:r>
          </a:p>
        </p:txBody>
      </p:sp>
      <p:sp>
        <p:nvSpPr>
          <p:cNvPr id="10" name="TextBox 9"/>
          <p:cNvSpPr txBox="1"/>
          <p:nvPr/>
        </p:nvSpPr>
        <p:spPr>
          <a:xfrm>
            <a:off x="3429000" y="2231457"/>
            <a:ext cx="8229600" cy="310896"/>
          </a:xfrm>
          <a:prstGeom prst="rect">
            <a:avLst/>
          </a:prstGeom>
          <a:noFill/>
        </p:spPr>
        <p:txBody>
          <a:bodyPr wrap="square">
            <a:spAutoFit/>
          </a:bodyPr>
          <a:lstStyle/>
          <a:p>
            <a:pPr algn="l"/>
            <a:r>
              <a:rPr sz="1250">
                <a:solidFill>
                  <a:srgbClr val="333840"/>
                </a:solidFill>
                <a:latin typeface="Arial"/>
              </a:rPr>
              <a:t>The FIR schema — 28 tables, queried by ZCQL</a:t>
            </a:r>
          </a:p>
        </p:txBody>
      </p:sp>
      <p:sp>
        <p:nvSpPr>
          <p:cNvPr id="11" name="TextBox 10"/>
          <p:cNvSpPr txBox="1"/>
          <p:nvPr/>
        </p:nvSpPr>
        <p:spPr>
          <a:xfrm>
            <a:off x="502920" y="2560641"/>
            <a:ext cx="2926080" cy="310896"/>
          </a:xfrm>
          <a:prstGeom prst="rect">
            <a:avLst/>
          </a:prstGeom>
          <a:noFill/>
        </p:spPr>
        <p:txBody>
          <a:bodyPr wrap="square">
            <a:spAutoFit/>
          </a:bodyPr>
          <a:lstStyle/>
          <a:p>
            <a:pPr algn="l"/>
            <a:r>
              <a:rPr sz="1250" b="1">
                <a:solidFill>
                  <a:srgbClr val="111111"/>
                </a:solidFill>
                <a:latin typeface="Arial"/>
              </a:rPr>
              <a:t>Authentication</a:t>
            </a:r>
          </a:p>
        </p:txBody>
      </p:sp>
      <p:sp>
        <p:nvSpPr>
          <p:cNvPr id="12" name="TextBox 11"/>
          <p:cNvSpPr txBox="1"/>
          <p:nvPr/>
        </p:nvSpPr>
        <p:spPr>
          <a:xfrm>
            <a:off x="3429000" y="2560641"/>
            <a:ext cx="8229600" cy="310896"/>
          </a:xfrm>
          <a:prstGeom prst="rect">
            <a:avLst/>
          </a:prstGeom>
          <a:noFill/>
        </p:spPr>
        <p:txBody>
          <a:bodyPr wrap="square">
            <a:spAutoFit/>
          </a:bodyPr>
          <a:lstStyle/>
          <a:p>
            <a:pPr algn="l"/>
            <a:r>
              <a:rPr sz="1250">
                <a:solidFill>
                  <a:srgbClr val="333840"/>
                </a:solidFill>
                <a:latin typeface="Arial"/>
              </a:rPr>
              <a:t>Identity behind the investigator / analyst / supervisor roles</a:t>
            </a:r>
          </a:p>
        </p:txBody>
      </p:sp>
      <p:sp>
        <p:nvSpPr>
          <p:cNvPr id="13" name="TextBox 12"/>
          <p:cNvSpPr txBox="1"/>
          <p:nvPr/>
        </p:nvSpPr>
        <p:spPr>
          <a:xfrm>
            <a:off x="502920" y="2889825"/>
            <a:ext cx="2926080" cy="310896"/>
          </a:xfrm>
          <a:prstGeom prst="rect">
            <a:avLst/>
          </a:prstGeom>
          <a:noFill/>
        </p:spPr>
        <p:txBody>
          <a:bodyPr wrap="square">
            <a:spAutoFit/>
          </a:bodyPr>
          <a:lstStyle/>
          <a:p>
            <a:pPr algn="l"/>
            <a:r>
              <a:rPr sz="1250" b="1">
                <a:solidFill>
                  <a:srgbClr val="111111"/>
                </a:solidFill>
                <a:latin typeface="Arial"/>
              </a:rPr>
              <a:t>Cache</a:t>
            </a:r>
          </a:p>
        </p:txBody>
      </p:sp>
      <p:sp>
        <p:nvSpPr>
          <p:cNvPr id="14" name="TextBox 13"/>
          <p:cNvSpPr txBox="1"/>
          <p:nvPr/>
        </p:nvSpPr>
        <p:spPr>
          <a:xfrm>
            <a:off x="3429000" y="2889825"/>
            <a:ext cx="8229600" cy="310896"/>
          </a:xfrm>
          <a:prstGeom prst="rect">
            <a:avLst/>
          </a:prstGeom>
          <a:noFill/>
        </p:spPr>
        <p:txBody>
          <a:bodyPr wrap="square">
            <a:spAutoFit/>
          </a:bodyPr>
          <a:lstStyle/>
          <a:p>
            <a:pPr algn="l"/>
            <a:r>
              <a:rPr sz="1250">
                <a:solidFill>
                  <a:srgbClr val="333840"/>
                </a:solidFill>
                <a:latin typeface="Arial"/>
              </a:rPr>
              <a:t>Caches computed API responses across function instances</a:t>
            </a:r>
          </a:p>
        </p:txBody>
      </p:sp>
      <p:sp>
        <p:nvSpPr>
          <p:cNvPr id="15" name="TextBox 14"/>
          <p:cNvSpPr txBox="1"/>
          <p:nvPr/>
        </p:nvSpPr>
        <p:spPr>
          <a:xfrm>
            <a:off x="502920" y="3219009"/>
            <a:ext cx="2926080" cy="310896"/>
          </a:xfrm>
          <a:prstGeom prst="rect">
            <a:avLst/>
          </a:prstGeom>
          <a:noFill/>
        </p:spPr>
        <p:txBody>
          <a:bodyPr wrap="square">
            <a:spAutoFit/>
          </a:bodyPr>
          <a:lstStyle/>
          <a:p>
            <a:pPr algn="l"/>
            <a:r>
              <a:rPr sz="1250" b="1">
                <a:solidFill>
                  <a:srgbClr val="111111"/>
                </a:solidFill>
                <a:latin typeface="Arial"/>
              </a:rPr>
              <a:t>Job Scheduling</a:t>
            </a:r>
          </a:p>
        </p:txBody>
      </p:sp>
      <p:sp>
        <p:nvSpPr>
          <p:cNvPr id="16" name="TextBox 15"/>
          <p:cNvSpPr txBox="1"/>
          <p:nvPr/>
        </p:nvSpPr>
        <p:spPr>
          <a:xfrm>
            <a:off x="3429000" y="3219009"/>
            <a:ext cx="8229600" cy="310896"/>
          </a:xfrm>
          <a:prstGeom prst="rect">
            <a:avLst/>
          </a:prstGeom>
          <a:noFill/>
        </p:spPr>
        <p:txBody>
          <a:bodyPr wrap="square">
            <a:spAutoFit/>
          </a:bodyPr>
          <a:lstStyle/>
          <a:p>
            <a:pPr algn="l"/>
            <a:r>
              <a:rPr sz="1250">
                <a:solidFill>
                  <a:srgbClr val="333840"/>
                </a:solidFill>
                <a:latin typeface="Arial"/>
              </a:rPr>
              <a:t>Nightly re-cluster and cache flush — used instead of Cron, which is deprecated</a:t>
            </a:r>
          </a:p>
        </p:txBody>
      </p:sp>
      <p:sp>
        <p:nvSpPr>
          <p:cNvPr id="17" name="TextBox 16"/>
          <p:cNvSpPr txBox="1"/>
          <p:nvPr/>
        </p:nvSpPr>
        <p:spPr>
          <a:xfrm>
            <a:off x="502920" y="3548193"/>
            <a:ext cx="2926080" cy="310896"/>
          </a:xfrm>
          <a:prstGeom prst="rect">
            <a:avLst/>
          </a:prstGeom>
          <a:noFill/>
        </p:spPr>
        <p:txBody>
          <a:bodyPr wrap="square">
            <a:spAutoFit/>
          </a:bodyPr>
          <a:lstStyle/>
          <a:p>
            <a:pPr algn="l"/>
            <a:r>
              <a:rPr sz="1250" b="1">
                <a:solidFill>
                  <a:srgbClr val="111111"/>
                </a:solidFill>
                <a:latin typeface="Arial"/>
              </a:rPr>
              <a:t>Signals + Event Functions</a:t>
            </a:r>
          </a:p>
        </p:txBody>
      </p:sp>
      <p:sp>
        <p:nvSpPr>
          <p:cNvPr id="18" name="TextBox 17"/>
          <p:cNvSpPr txBox="1"/>
          <p:nvPr/>
        </p:nvSpPr>
        <p:spPr>
          <a:xfrm>
            <a:off x="3429000" y="3548193"/>
            <a:ext cx="8229600" cy="310896"/>
          </a:xfrm>
          <a:prstGeom prst="rect">
            <a:avLst/>
          </a:prstGeom>
          <a:noFill/>
        </p:spPr>
        <p:txBody>
          <a:bodyPr wrap="square">
            <a:spAutoFit/>
          </a:bodyPr>
          <a:lstStyle/>
          <a:p>
            <a:pPr algn="l"/>
            <a:r>
              <a:rPr sz="1250">
                <a:solidFill>
                  <a:srgbClr val="333840"/>
                </a:solidFill>
                <a:latin typeface="Arial"/>
              </a:rPr>
              <a:t>Auto-triages a newly registered FIR — instead of Event Listeners, also deprecated</a:t>
            </a:r>
          </a:p>
        </p:txBody>
      </p:sp>
      <p:sp>
        <p:nvSpPr>
          <p:cNvPr id="19" name="TextBox 18"/>
          <p:cNvSpPr txBox="1"/>
          <p:nvPr/>
        </p:nvSpPr>
        <p:spPr>
          <a:xfrm>
            <a:off x="502920" y="3877377"/>
            <a:ext cx="2926080" cy="310896"/>
          </a:xfrm>
          <a:prstGeom prst="rect">
            <a:avLst/>
          </a:prstGeom>
          <a:noFill/>
        </p:spPr>
        <p:txBody>
          <a:bodyPr wrap="square">
            <a:spAutoFit/>
          </a:bodyPr>
          <a:lstStyle/>
          <a:p>
            <a:pPr algn="l"/>
            <a:r>
              <a:rPr sz="1250" b="1">
                <a:solidFill>
                  <a:srgbClr val="111111"/>
                </a:solidFill>
                <a:latin typeface="Arial"/>
              </a:rPr>
              <a:t>SmartBrowz</a:t>
            </a:r>
          </a:p>
        </p:txBody>
      </p:sp>
      <p:sp>
        <p:nvSpPr>
          <p:cNvPr id="20" name="TextBox 19"/>
          <p:cNvSpPr txBox="1"/>
          <p:nvPr/>
        </p:nvSpPr>
        <p:spPr>
          <a:xfrm>
            <a:off x="3429000" y="3877377"/>
            <a:ext cx="8229600" cy="310896"/>
          </a:xfrm>
          <a:prstGeom prst="rect">
            <a:avLst/>
          </a:prstGeom>
          <a:noFill/>
        </p:spPr>
        <p:txBody>
          <a:bodyPr wrap="square">
            <a:spAutoFit/>
          </a:bodyPr>
          <a:lstStyle/>
          <a:p>
            <a:pPr algn="l"/>
            <a:r>
              <a:rPr sz="1250">
                <a:solidFill>
                  <a:srgbClr val="333840"/>
                </a:solidFill>
                <a:latin typeface="Arial"/>
              </a:rPr>
              <a:t>Renders the case-brief PDF</a:t>
            </a:r>
          </a:p>
        </p:txBody>
      </p:sp>
      <p:sp>
        <p:nvSpPr>
          <p:cNvPr id="21" name="TextBox 20"/>
          <p:cNvSpPr txBox="1"/>
          <p:nvPr/>
        </p:nvSpPr>
        <p:spPr>
          <a:xfrm>
            <a:off x="502920" y="4206561"/>
            <a:ext cx="2926080" cy="310896"/>
          </a:xfrm>
          <a:prstGeom prst="rect">
            <a:avLst/>
          </a:prstGeom>
          <a:noFill/>
        </p:spPr>
        <p:txBody>
          <a:bodyPr wrap="square">
            <a:spAutoFit/>
          </a:bodyPr>
          <a:lstStyle/>
          <a:p>
            <a:pPr algn="l"/>
            <a:r>
              <a:rPr sz="1250" b="1">
                <a:solidFill>
                  <a:srgbClr val="111111"/>
                </a:solidFill>
                <a:latin typeface="Arial"/>
              </a:rPr>
              <a:t>Web Client Hosting</a:t>
            </a:r>
          </a:p>
        </p:txBody>
      </p:sp>
      <p:sp>
        <p:nvSpPr>
          <p:cNvPr id="22" name="TextBox 21"/>
          <p:cNvSpPr txBox="1"/>
          <p:nvPr/>
        </p:nvSpPr>
        <p:spPr>
          <a:xfrm>
            <a:off x="3429000" y="4206561"/>
            <a:ext cx="8229600" cy="310896"/>
          </a:xfrm>
          <a:prstGeom prst="rect">
            <a:avLst/>
          </a:prstGeom>
          <a:noFill/>
        </p:spPr>
        <p:txBody>
          <a:bodyPr wrap="square">
            <a:spAutoFit/>
          </a:bodyPr>
          <a:lstStyle/>
          <a:p>
            <a:pPr algn="l"/>
            <a:r>
              <a:rPr sz="1250">
                <a:solidFill>
                  <a:srgbClr val="333840"/>
                </a:solidFill>
                <a:latin typeface="Arial"/>
              </a:rPr>
              <a:t>Serves the React application</a:t>
            </a:r>
          </a:p>
        </p:txBody>
      </p:sp>
      <p:sp>
        <p:nvSpPr>
          <p:cNvPr id="23" name="TextBox 22"/>
          <p:cNvSpPr txBox="1"/>
          <p:nvPr/>
        </p:nvSpPr>
        <p:spPr>
          <a:xfrm>
            <a:off x="502920" y="4773489"/>
            <a:ext cx="11185855" cy="1188720"/>
          </a:xfrm>
          <a:prstGeom prst="rect">
            <a:avLst/>
          </a:prstGeom>
          <a:noFill/>
        </p:spPr>
        <p:txBody>
          <a:bodyPr wrap="square">
            <a:spAutoFit/>
          </a:bodyPr>
          <a:lstStyle/>
          <a:p>
            <a:pPr algn="l">
              <a:lnSpc>
                <a:spcPct val="122000"/>
              </a:lnSpc>
              <a:spcAft>
                <a:spcPts val="500"/>
              </a:spcAft>
            </a:pPr>
            <a:r>
              <a:rPr sz="1250" b="0">
                <a:solidFill>
                  <a:srgbClr val="666C77"/>
                </a:solidFill>
                <a:latin typeface="Arial"/>
              </a:rPr>
              <a:t>We deliberately avoided the deprecated services: </a:t>
            </a:r>
            <a:r>
              <a:rPr sz="1250" b="1">
                <a:solidFill>
                  <a:srgbClr val="666C77"/>
                </a:solidFill>
                <a:latin typeface="Arial"/>
              </a:rPr>
              <a:t>Job Scheduling replaces Cron</a:t>
            </a:r>
            <a:r>
              <a:rPr sz="1250" b="0">
                <a:solidFill>
                  <a:srgbClr val="666C77"/>
                </a:solidFill>
                <a:latin typeface="Arial"/>
              </a:rPr>
              <a:t> and </a:t>
            </a:r>
            <a:r>
              <a:rPr sz="1250" b="1">
                <a:solidFill>
                  <a:srgbClr val="666C77"/>
                </a:solidFill>
                <a:latin typeface="Arial"/>
              </a:rPr>
              <a:t>Signals with Event Functions replaces Event Listeners</a:t>
            </a:r>
            <a:r>
              <a:rPr sz="1250" b="0">
                <a:solidFill>
                  <a:srgbClr val="666C77"/>
                </a:solidFill>
                <a:latin typeface="Arial"/>
              </a:rPr>
              <a:t>, both end-of-life 30 April 2026.</a:t>
            </a:r>
          </a:p>
          <a:p>
            <a:pPr algn="l">
              <a:lnSpc>
                <a:spcPct val="122000"/>
              </a:lnSpc>
              <a:spcAft>
                <a:spcPts val="700"/>
              </a:spcAft>
            </a:pPr>
            <a:r>
              <a:rPr sz="1250" b="1">
                <a:solidFill>
                  <a:srgbClr val="666C77"/>
                </a:solidFill>
                <a:latin typeface="Arial"/>
              </a:rPr>
              <a:t>Since the previous submission, four services moved from roadmap to shipped</a:t>
            </a:r>
            <a:r>
              <a:rPr sz="1250" b="0">
                <a:solidFill>
                  <a:srgbClr val="666C77"/>
                </a:solidFill>
                <a:latin typeface="Arial"/>
              </a:rPr>
              <a:t> — Authentication (role-based access control), Job Scheduling, Signals with Event Functions, and SmartBrowz. Data Store full-text search on BriefFacts activates when the tables are populated.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Estimated implementation cost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900"/>
              </a:spcAft>
            </a:pPr>
            <a:r>
              <a:rPr sz="1500" b="1">
                <a:solidFill>
                  <a:srgbClr val="111111"/>
                </a:solidFill>
                <a:latin typeface="Arial"/>
              </a:rPr>
              <a:t>No new infrastructure and no new data collection.</a:t>
            </a:r>
            <a:r>
              <a:rPr sz="1500" b="0">
                <a:solidFill>
                  <a:srgbClr val="111111"/>
                </a:solidFill>
                <a:latin typeface="Arial"/>
              </a:rPr>
              <a:t> Costs scale gradually with usage.</a:t>
            </a:r>
          </a:p>
          <a:p>
            <a:pPr algn="l">
              <a:lnSpc>
                <a:spcPct val="122000"/>
              </a:lnSpc>
              <a:spcAft>
                <a:spcPts val="400"/>
              </a:spcAft>
            </a:pPr>
            <a:r>
              <a:rPr sz="1300" b="1">
                <a:solidFill>
                  <a:srgbClr val="333840"/>
                </a:solidFill>
                <a:latin typeface="Arial"/>
              </a:rPr>
              <a:t>Pilot / demo stage</a:t>
            </a:r>
            <a:r>
              <a:rPr sz="1300" b="0">
                <a:solidFill>
                  <a:srgbClr val="333840"/>
                </a:solidFill>
                <a:latin typeface="Arial"/>
              </a:rPr>
              <a:t> — runs on the Catalyst Developer Tier at roughly </a:t>
            </a:r>
            <a:r>
              <a:rPr sz="1300" b="1">
                <a:solidFill>
                  <a:srgbClr val="333840"/>
                </a:solidFill>
                <a:latin typeface="Arial"/>
              </a:rPr>
              <a:t>₹0</a:t>
            </a:r>
            <a:r>
              <a:rPr sz="1300" b="0">
                <a:solidFill>
                  <a:srgbClr val="333840"/>
                </a:solidFill>
                <a:latin typeface="Arial"/>
              </a:rPr>
              <a:t>, within the free tier.</a:t>
            </a:r>
          </a:p>
          <a:p>
            <a:pPr algn="l">
              <a:lnSpc>
                <a:spcPct val="122000"/>
              </a:lnSpc>
              <a:spcAft>
                <a:spcPts val="400"/>
              </a:spcAft>
            </a:pPr>
            <a:r>
              <a:rPr sz="1300" b="1">
                <a:solidFill>
                  <a:srgbClr val="333840"/>
                </a:solidFill>
                <a:latin typeface="Arial"/>
              </a:rPr>
              <a:t>District-level deployment</a:t>
            </a:r>
            <a:r>
              <a:rPr sz="1300" b="0">
                <a:solidFill>
                  <a:srgbClr val="333840"/>
                </a:solidFill>
                <a:latin typeface="Arial"/>
              </a:rPr>
              <a:t> (~10⁴–10⁵ FIRs) — AppSail, Serverless Functions and Data Store, in the </a:t>
            </a:r>
            <a:r>
              <a:rPr sz="1300" b="1">
                <a:solidFill>
                  <a:srgbClr val="333840"/>
                </a:solidFill>
                <a:latin typeface="Arial"/>
              </a:rPr>
              <a:t>low thousands of rupees per month</a:t>
            </a:r>
            <a:r>
              <a:rPr sz="1300" b="0">
                <a:solidFill>
                  <a:srgbClr val="333840"/>
                </a:solidFill>
                <a:latin typeface="Arial"/>
              </a:rPr>
              <a:t>.</a:t>
            </a:r>
          </a:p>
          <a:p>
            <a:pPr algn="l">
              <a:lnSpc>
                <a:spcPct val="122000"/>
              </a:lnSpc>
              <a:spcAft>
                <a:spcPts val="800"/>
              </a:spcAft>
            </a:pPr>
            <a:r>
              <a:rPr sz="1300" b="1">
                <a:solidFill>
                  <a:srgbClr val="333840"/>
                </a:solidFill>
                <a:latin typeface="Arial"/>
              </a:rPr>
              <a:t>State-wide</a:t>
            </a:r>
            <a:r>
              <a:rPr sz="1300" b="0">
                <a:solidFill>
                  <a:srgbClr val="333840"/>
                </a:solidFill>
                <a:latin typeface="Arial"/>
              </a:rPr>
              <a:t> (~10⁶ FIRs with nightly recomputation) — </a:t>
            </a:r>
            <a:r>
              <a:rPr sz="1300" b="1">
                <a:solidFill>
                  <a:srgbClr val="333840"/>
                </a:solidFill>
                <a:latin typeface="Arial"/>
              </a:rPr>
              <a:t>tens of thousands of rupees per month</a:t>
            </a:r>
            <a:r>
              <a:rPr sz="1300" b="0">
                <a:solidFill>
                  <a:srgbClr val="333840"/>
                </a:solidFill>
                <a:latin typeface="Arial"/>
              </a:rPr>
              <a:t>, driven mainly by AppSail and Data Store scaling.</a:t>
            </a:r>
          </a:p>
          <a:p>
            <a:pPr algn="l">
              <a:lnSpc>
                <a:spcPct val="122000"/>
              </a:lnSpc>
              <a:spcAft>
                <a:spcPts val="1000"/>
              </a:spcAft>
            </a:pPr>
            <a:r>
              <a:rPr sz="1300" b="0">
                <a:solidFill>
                  <a:srgbClr val="333840"/>
                </a:solidFill>
                <a:latin typeface="Arial"/>
              </a:rPr>
              <a:t>Costs stay low because the pipeline uses </a:t>
            </a:r>
            <a:r>
              <a:rPr sz="1300" b="1">
                <a:solidFill>
                  <a:srgbClr val="333840"/>
                </a:solidFill>
                <a:latin typeface="Arial"/>
              </a:rPr>
              <a:t>CPU-based scikit-learn models — no GPUs and no external LLM API calls</a:t>
            </a:r>
            <a:r>
              <a:rPr sz="1300" b="0">
                <a:solidFill>
                  <a:srgbClr val="333840"/>
                </a:solidFill>
                <a:latin typeface="Arial"/>
              </a:rPr>
              <a:t> — and linkage runs as a nightly batch rather than on every user query. Figures are estimates and vary with data volume and recomputation frequency.</a:t>
            </a:r>
          </a:p>
          <a:p>
            <a:pPr algn="l">
              <a:lnSpc>
                <a:spcPct val="122000"/>
              </a:lnSpc>
              <a:spcAft>
                <a:spcPts val="500"/>
              </a:spcAft>
            </a:pPr>
            <a:r>
              <a:rPr sz="1300" b="1">
                <a:solidFill>
                  <a:srgbClr val="A8231B"/>
                </a:solidFill>
                <a:latin typeface="Arial"/>
              </a:rPr>
              <a:t>What is not in the cost</a:t>
            </a:r>
          </a:p>
          <a:p>
            <a:pPr algn="l">
              <a:lnSpc>
                <a:spcPct val="122000"/>
              </a:lnSpc>
              <a:spcAft>
                <a:spcPts val="400"/>
              </a:spcAft>
            </a:pPr>
            <a:r>
              <a:rPr sz="1250" b="1">
                <a:solidFill>
                  <a:srgbClr val="333840"/>
                </a:solidFill>
                <a:latin typeface="Arial"/>
              </a:rPr>
              <a:t>No new data collection</a:t>
            </a:r>
            <a:r>
              <a:rPr sz="1250" b="0">
                <a:solidFill>
                  <a:srgbClr val="333840"/>
                </a:solidFill>
                <a:latin typeface="Arial"/>
              </a:rPr>
              <a:t> — it reads the FIR schema exactly as it exists.</a:t>
            </a:r>
          </a:p>
          <a:p>
            <a:pPr algn="l">
              <a:lnSpc>
                <a:spcPct val="122000"/>
              </a:lnSpc>
              <a:spcAft>
                <a:spcPts val="400"/>
              </a:spcAft>
            </a:pPr>
            <a:r>
              <a:rPr sz="1250" b="1">
                <a:solidFill>
                  <a:srgbClr val="333840"/>
                </a:solidFill>
                <a:latin typeface="Arial"/>
              </a:rPr>
              <a:t>No change to officer workflow</a:t>
            </a:r>
            <a:r>
              <a:rPr sz="1250" b="0">
                <a:solidFill>
                  <a:srgbClr val="333840"/>
                </a:solidFill>
                <a:latin typeface="Arial"/>
              </a:rPr>
              <a:t> — no additional field, form or step when filing an FIR.</a:t>
            </a:r>
          </a:p>
          <a:p>
            <a:pPr algn="l">
              <a:lnSpc>
                <a:spcPct val="122000"/>
              </a:lnSpc>
              <a:spcAft>
                <a:spcPts val="400"/>
              </a:spcAft>
            </a:pPr>
            <a:r>
              <a:rPr sz="1250" b="1">
                <a:solidFill>
                  <a:srgbClr val="333840"/>
                </a:solidFill>
                <a:latin typeface="Arial"/>
              </a:rPr>
              <a:t>No third-party licences</a:t>
            </a:r>
            <a:r>
              <a:rPr sz="1250" b="0">
                <a:solidFill>
                  <a:srgbClr val="333840"/>
                </a:solidFill>
                <a:latin typeface="Arial"/>
              </a:rPr>
              <a:t> — every component is either open-source or a Catalyst service already in the KSP stack.</a:t>
            </a:r>
          </a:p>
          <a:p>
            <a:pPr algn="l">
              <a:lnSpc>
                <a:spcPct val="122000"/>
              </a:lnSpc>
              <a:spcAft>
                <a:spcPts val="700"/>
              </a:spcAft>
            </a:pPr>
            <a:r>
              <a:rPr sz="1250" b="1">
                <a:solidFill>
                  <a:srgbClr val="333840"/>
                </a:solidFill>
                <a:latin typeface="Arial"/>
              </a:rPr>
              <a:t>No GPU or inference hardware</a:t>
            </a:r>
            <a:r>
              <a:rPr sz="1250" b="0">
                <a:solidFill>
                  <a:srgbClr val="333840"/>
                </a:solidFill>
                <a:latin typeface="Arial"/>
              </a:rPr>
              <a:t>, and no per-query API spend that grows with usage.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1.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4983801"/>
            <a:ext cx="5486400" cy="457200"/>
          </a:xfrm>
          <a:prstGeom prst="rect">
            <a:avLst/>
          </a:prstGeom>
          <a:noFill/>
        </p:spPr>
        <p:txBody>
          <a:bodyPr wrap="square">
            <a:spAutoFit/>
          </a:bodyPr>
          <a:lstStyle/>
          <a:p>
            <a:pPr algn="l"/>
            <a:r>
              <a:rPr sz="1150">
                <a:solidFill>
                  <a:srgbClr val="666C77"/>
                </a:solidFill>
                <a:latin typeface="Arial"/>
              </a:rPr>
              <a:t>Statewide — 789 undetected cases, 16 linked groups</a:t>
            </a:r>
          </a:p>
        </p:txBody>
      </p:sp>
      <p:pic>
        <p:nvPicPr>
          <p:cNvPr id="7" name="Picture 6" descr="shot2.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4983801"/>
            <a:ext cx="5486400" cy="457200"/>
          </a:xfrm>
          <a:prstGeom prst="rect">
            <a:avLst/>
          </a:prstGeom>
          <a:noFill/>
        </p:spPr>
        <p:txBody>
          <a:bodyPr wrap="square">
            <a:spAutoFit/>
          </a:bodyPr>
          <a:lstStyle/>
          <a:p>
            <a:pPr algn="l"/>
            <a:r>
              <a:rPr sz="1150">
                <a:solidFill>
                  <a:srgbClr val="666C77"/>
                </a:solidFill>
                <a:latin typeface="Arial"/>
              </a:rPr>
              <a:t>A linked group — evidence trail and next-strike projection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Snapshots of the prototype</a:t>
            </a:r>
          </a:p>
        </p:txBody>
      </p:sp>
      <p:pic>
        <p:nvPicPr>
          <p:cNvPr id="5" name="Picture 4" descr="shot3.png"/>
          <p:cNvPicPr>
            <a:picLocks noChangeAspect="1"/>
          </p:cNvPicPr>
          <p:nvPr/>
        </p:nvPicPr>
        <p:blipFill>
          <a:blip r:embed="rId4"/>
          <a:stretch>
            <a:fillRect/>
          </a:stretch>
        </p:blipFill>
        <p:spPr>
          <a:xfrm>
            <a:off x="502920" y="1618809"/>
            <a:ext cx="5486400" cy="3429000"/>
          </a:xfrm>
          <a:prstGeom prst="rect">
            <a:avLst/>
          </a:prstGeom>
        </p:spPr>
      </p:pic>
      <p:sp>
        <p:nvSpPr>
          <p:cNvPr id="6" name="TextBox 5"/>
          <p:cNvSpPr txBox="1"/>
          <p:nvPr/>
        </p:nvSpPr>
        <p:spPr>
          <a:xfrm>
            <a:off x="502920" y="4983801"/>
            <a:ext cx="5486400" cy="457200"/>
          </a:xfrm>
          <a:prstGeom prst="rect">
            <a:avLst/>
          </a:prstGeom>
          <a:noFill/>
        </p:spPr>
        <p:txBody>
          <a:bodyPr wrap="square">
            <a:spAutoFit/>
          </a:bodyPr>
          <a:lstStyle/>
          <a:p>
            <a:pPr algn="l"/>
            <a:r>
              <a:rPr sz="1150">
                <a:solidFill>
                  <a:srgbClr val="666C77"/>
                </a:solidFill>
                <a:latin typeface="Arial"/>
              </a:rPr>
              <a:t>Measured accuracy, ablation and the identity experiment</a:t>
            </a:r>
          </a:p>
        </p:txBody>
      </p:sp>
      <p:pic>
        <p:nvPicPr>
          <p:cNvPr id="7" name="Picture 6" descr="shot4.png"/>
          <p:cNvPicPr>
            <a:picLocks noChangeAspect="1"/>
          </p:cNvPicPr>
          <p:nvPr/>
        </p:nvPicPr>
        <p:blipFill>
          <a:blip r:embed="rId5"/>
          <a:stretch>
            <a:fillRect/>
          </a:stretch>
        </p:blipFill>
        <p:spPr>
          <a:xfrm>
            <a:off x="6217920" y="1618809"/>
            <a:ext cx="5486400" cy="3429000"/>
          </a:xfrm>
          <a:prstGeom prst="rect">
            <a:avLst/>
          </a:prstGeom>
        </p:spPr>
      </p:pic>
      <p:sp>
        <p:nvSpPr>
          <p:cNvPr id="8" name="TextBox 7"/>
          <p:cNvSpPr txBox="1"/>
          <p:nvPr/>
        </p:nvSpPr>
        <p:spPr>
          <a:xfrm>
            <a:off x="6217920" y="4983801"/>
            <a:ext cx="5486400" cy="457200"/>
          </a:xfrm>
          <a:prstGeom prst="rect">
            <a:avLst/>
          </a:prstGeom>
          <a:noFill/>
        </p:spPr>
        <p:txBody>
          <a:bodyPr wrap="square">
            <a:spAutoFit/>
          </a:bodyPr>
          <a:lstStyle/>
          <a:p>
            <a:pPr algn="l"/>
            <a:r>
              <a:rPr sz="1150">
                <a:solidFill>
                  <a:srgbClr val="666C77"/>
                </a:solidFill>
                <a:latin typeface="Arial"/>
              </a:rPr>
              <a:t>Role-based access — an investigator sees one district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Prototype Performance report / Benchmarking</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500"/>
              </a:spcAft>
            </a:pPr>
            <a:r>
              <a:rPr sz="1300" b="1">
                <a:solidFill>
                  <a:srgbClr val="A8231B"/>
                </a:solidFill>
                <a:latin typeface="Arial"/>
              </a:rPr>
              <a:t>Linkage accuracy — measured pairwise over every pair of undetected cases against planted ground truth</a:t>
            </a:r>
          </a:p>
          <a:p>
            <a:pPr algn="l">
              <a:lnSpc>
                <a:spcPct val="122000"/>
              </a:lnSpc>
              <a:spcAft>
                <a:spcPts val="1000"/>
              </a:spcAft>
            </a:pPr>
            <a:r>
              <a:rPr sz="1300" b="1">
                <a:solidFill>
                  <a:srgbClr val="111111"/>
                </a:solidFill>
                <a:latin typeface="Arial"/>
              </a:rPr>
              <a:t>Precision 0.928   ·   Recall 0.965   ·   F1 0.946   ·   13 of 13 planted groups recovered.</a:t>
            </a:r>
            <a:r>
              <a:rPr sz="1300" b="0">
                <a:solidFill>
                  <a:srgbClr val="111111"/>
                </a:solidFill>
                <a:latin typeface="Arial"/>
              </a:rPr>
              <a:t>  Reproducible offline in one command: python appsail-python/run_local.py</a:t>
            </a:r>
          </a:p>
          <a:p>
            <a:pPr algn="l">
              <a:lnSpc>
                <a:spcPct val="122000"/>
              </a:lnSpc>
              <a:spcAft>
                <a:spcPts val="500"/>
              </a:spcAft>
            </a:pPr>
            <a:r>
              <a:rPr sz="1300" b="1">
                <a:solidFill>
                  <a:srgbClr val="A8231B"/>
                </a:solidFill>
                <a:latin typeface="Arial"/>
              </a:rPr>
              <a:t>What each signal is worth (leave-one-out ablation)</a:t>
            </a:r>
          </a:p>
          <a:p>
            <a:pPr algn="l">
              <a:lnSpc>
                <a:spcPct val="122000"/>
              </a:lnSpc>
              <a:spcAft>
                <a:spcPts val="1000"/>
              </a:spcAft>
            </a:pPr>
            <a:r>
              <a:rPr sz="1300" b="0">
                <a:solidFill>
                  <a:srgbClr val="333840"/>
                </a:solidFill>
                <a:latin typeface="Arial"/>
              </a:rPr>
              <a:t>Location removed → F1 falls 0.946 to </a:t>
            </a:r>
            <a:r>
              <a:rPr sz="1300" b="1">
                <a:solidFill>
                  <a:srgbClr val="333840"/>
                </a:solidFill>
                <a:latin typeface="Arial"/>
              </a:rPr>
              <a:t>0.363</a:t>
            </a:r>
            <a:r>
              <a:rPr sz="1300" b="0">
                <a:solidFill>
                  <a:srgbClr val="333840"/>
                </a:solidFill>
                <a:latin typeface="Arial"/>
              </a:rPr>
              <a:t>.   Method (MO text) removed → </a:t>
            </a:r>
            <a:r>
              <a:rPr sz="1300" b="1">
                <a:solidFill>
                  <a:srgbClr val="333840"/>
                </a:solidFill>
                <a:latin typeface="Arial"/>
              </a:rPr>
              <a:t>0.438</a:t>
            </a:r>
            <a:r>
              <a:rPr sz="1300" b="0">
                <a:solidFill>
                  <a:srgbClr val="333840"/>
                </a:solidFill>
                <a:latin typeface="Arial"/>
              </a:rPr>
              <a:t>.   Crime type removed → </a:t>
            </a:r>
            <a:r>
              <a:rPr sz="1300" b="1">
                <a:solidFill>
                  <a:srgbClr val="333840"/>
                </a:solidFill>
                <a:latin typeface="Arial"/>
              </a:rPr>
              <a:t>0.737</a:t>
            </a:r>
            <a:r>
              <a:rPr sz="1300" b="0">
                <a:solidFill>
                  <a:srgbClr val="333840"/>
                </a:solidFill>
                <a:latin typeface="Arial"/>
              </a:rPr>
              <a:t>.</a:t>
            </a:r>
          </a:p>
          <a:p>
            <a:pPr algn="l">
              <a:lnSpc>
                <a:spcPct val="122000"/>
              </a:lnSpc>
              <a:spcAft>
                <a:spcPts val="500"/>
              </a:spcAft>
            </a:pPr>
            <a:r>
              <a:rPr sz="1300" b="1">
                <a:solidFill>
                  <a:srgbClr val="A8231B"/>
                </a:solidFill>
                <a:latin typeface="Arial"/>
              </a:rPr>
              <a:t>The identity experiment</a:t>
            </a:r>
          </a:p>
          <a:p>
            <a:pPr algn="l">
              <a:lnSpc>
                <a:spcPct val="122000"/>
              </a:lnSpc>
              <a:spcAft>
                <a:spcPts val="1000"/>
              </a:spcAft>
            </a:pPr>
            <a:r>
              <a:rPr sz="1300" b="0">
                <a:solidFill>
                  <a:srgbClr val="333840"/>
                </a:solidFill>
                <a:latin typeface="Arial"/>
              </a:rPr>
              <a:t>Accused name at 8% weight → P 0.919 / R 0.854 / F1 0.885.   </a:t>
            </a:r>
            <a:r>
              <a:rPr sz="1300" b="1">
                <a:solidFill>
                  <a:srgbClr val="333840"/>
                </a:solidFill>
                <a:latin typeface="Arial"/>
              </a:rPr>
              <a:t>At zero weight (shipped) → P 0.928 / R 0.965 / F1 0.946.</a:t>
            </a:r>
            <a:r>
              <a:rPr sz="1300" b="0">
                <a:solidFill>
                  <a:srgbClr val="333840"/>
                </a:solidFill>
                <a:latin typeface="Arial"/>
              </a:rPr>
              <a:t>  Coincidental name collisions pulled unrelated cases into real groups, so identity now carries no weight in linkage at all.</a:t>
            </a:r>
          </a:p>
          <a:p>
            <a:pPr algn="l">
              <a:lnSpc>
                <a:spcPct val="122000"/>
              </a:lnSpc>
              <a:spcAft>
                <a:spcPts val="500"/>
              </a:spcAft>
            </a:pPr>
            <a:r>
              <a:rPr sz="1300" b="1">
                <a:solidFill>
                  <a:srgbClr val="A8231B"/>
                </a:solidFill>
                <a:latin typeface="Arial"/>
              </a:rPr>
              <a:t>Forecast, back-tested</a:t>
            </a:r>
          </a:p>
          <a:p>
            <a:pPr algn="l">
              <a:lnSpc>
                <a:spcPct val="122000"/>
              </a:lnSpc>
              <a:spcAft>
                <a:spcPts val="1000"/>
              </a:spcAft>
            </a:pPr>
            <a:r>
              <a:rPr sz="1300" b="0">
                <a:solidFill>
                  <a:srgbClr val="333840"/>
                </a:solidFill>
                <a:latin typeface="Arial"/>
              </a:rPr>
              <a:t>Each group's last offence held out, a projection built from the earlier events only, then checked against what actually happened: </a:t>
            </a:r>
            <a:r>
              <a:rPr sz="1300" b="1">
                <a:solidFill>
                  <a:srgbClr val="333840"/>
                </a:solidFill>
                <a:latin typeface="Arial"/>
              </a:rPr>
              <a:t>area hit rate 92.9%</a:t>
            </a:r>
            <a:r>
              <a:rPr sz="1300" b="0">
                <a:solidFill>
                  <a:srgbClr val="333840"/>
                </a:solidFill>
                <a:latin typeface="Arial"/>
              </a:rPr>
              <a:t>, window hit rate 50.0%, median timing error 7.7 days, across 14 groups. The area holds up far better than the timing — which is why the map ring is the actionable part of the forecast, not the date.</a:t>
            </a:r>
          </a:p>
          <a:p>
            <a:pPr algn="l">
              <a:lnSpc>
                <a:spcPct val="122000"/>
              </a:lnSpc>
              <a:spcAft>
                <a:spcPts val="500"/>
              </a:spcAft>
            </a:pPr>
            <a:r>
              <a:rPr sz="1300" b="1">
                <a:solidFill>
                  <a:srgbClr val="A8231B"/>
                </a:solidFill>
                <a:latin typeface="Arial"/>
              </a:rPr>
              <a:t>Schema conformance</a:t>
            </a:r>
          </a:p>
          <a:p>
            <a:pPr algn="l">
              <a:lnSpc>
                <a:spcPct val="122000"/>
              </a:lnSpc>
              <a:spcAft>
                <a:spcPts val="700"/>
              </a:spcAft>
            </a:pPr>
            <a:r>
              <a:rPr sz="1300" b="1">
                <a:solidFill>
                  <a:srgbClr val="333840"/>
                </a:solidFill>
                <a:latin typeface="Arial"/>
              </a:rPr>
              <a:t>28 of 28 ER tables implemented, 42 of 42 foreign keys resolve.</a:t>
            </a:r>
            <a:r>
              <a:rPr sz="1300" b="0">
                <a:solidFill>
                  <a:srgbClr val="333840"/>
                </a:solidFill>
                <a:latin typeface="Arial"/>
              </a:rPr>
              <a:t>  The KSP dataset was not released, so these figures are measured on schema-faithful synthetic data with planted offender groups. Real FIR data swaps in through the same tables and pipeline unchanged, and the accuracy panel re-measures itself against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Provide links to your:</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300"/>
              </a:spcAft>
            </a:pPr>
            <a:r>
              <a:rPr sz="1500" b="1">
                <a:solidFill>
                  <a:srgbClr val="111111"/>
                </a:solidFill>
                <a:latin typeface="Arial"/>
              </a:rPr>
              <a:t>1.   GitHub Public Repository</a:t>
            </a:r>
          </a:p>
          <a:p>
            <a:pPr algn="l">
              <a:lnSpc>
                <a:spcPct val="122000"/>
              </a:lnSpc>
              <a:spcAft>
                <a:spcPts val="1200"/>
              </a:spcAft>
            </a:pPr>
            <a:r>
              <a:rPr sz="1400" b="0">
                <a:solidFill>
                  <a:srgbClr val="333840"/>
                </a:solidFill>
                <a:latin typeface="Arial"/>
              </a:rPr>
              <a:t>https://github.com/whysush/drishti-crimelink</a:t>
            </a:r>
          </a:p>
          <a:p>
            <a:pPr algn="l">
              <a:lnSpc>
                <a:spcPct val="122000"/>
              </a:lnSpc>
              <a:spcAft>
                <a:spcPts val="300"/>
              </a:spcAft>
            </a:pPr>
            <a:r>
              <a:rPr sz="1500" b="1">
                <a:solidFill>
                  <a:srgbClr val="111111"/>
                </a:solidFill>
                <a:latin typeface="Arial"/>
              </a:rPr>
              <a:t>2.   Demo Video Link (3 minutes)</a:t>
            </a:r>
          </a:p>
          <a:p>
            <a:pPr algn="l">
              <a:lnSpc>
                <a:spcPct val="122000"/>
              </a:lnSpc>
              <a:spcAft>
                <a:spcPts val="1200"/>
              </a:spcAft>
            </a:pPr>
            <a:r>
              <a:rPr sz="1300" b="0">
                <a:solidFill>
                  <a:srgbClr val="333840"/>
                </a:solidFill>
                <a:latin typeface="Arial"/>
              </a:rPr>
              <a:t>https://drive.google.com/file/d/1-NFxiHr9veflHYR7-AuijxACmk5u-CWV/view?usp=sharing</a:t>
            </a:r>
          </a:p>
          <a:p>
            <a:pPr algn="l">
              <a:lnSpc>
                <a:spcPct val="122000"/>
              </a:lnSpc>
              <a:spcAft>
                <a:spcPts val="300"/>
              </a:spcAft>
            </a:pPr>
            <a:r>
              <a:rPr sz="1500" b="1">
                <a:solidFill>
                  <a:srgbClr val="111111"/>
                </a:solidFill>
                <a:latin typeface="Arial"/>
              </a:rPr>
              <a:t>3.   Deployed Link</a:t>
            </a:r>
          </a:p>
          <a:p>
            <a:pPr algn="l">
              <a:lnSpc>
                <a:spcPct val="122000"/>
              </a:lnSpc>
              <a:spcAft>
                <a:spcPts val="1400"/>
              </a:spcAft>
            </a:pPr>
            <a:r>
              <a:rPr sz="1400" b="0">
                <a:solidFill>
                  <a:srgbClr val="333840"/>
                </a:solidFill>
                <a:latin typeface="Arial"/>
              </a:rPr>
              <a:t>https://crimelink-927199644.development.catalystserverless.com/app/index.html</a:t>
            </a:r>
          </a:p>
          <a:p>
            <a:pPr algn="l">
              <a:lnSpc>
                <a:spcPct val="122000"/>
              </a:lnSpc>
              <a:spcAft>
                <a:spcPts val="1200"/>
              </a:spcAft>
            </a:pPr>
            <a:r>
              <a:rPr sz="1250" b="0">
                <a:solidFill>
                  <a:srgbClr val="666C77"/>
                </a:solidFill>
                <a:latin typeface="Arial"/>
              </a:rPr>
              <a:t>Live on Zoho Catalyst — React client on Web Client Hosting, Serverless Function gateway, and the ML engine on AppSail.</a:t>
            </a:r>
          </a:p>
          <a:p>
            <a:pPr algn="l">
              <a:lnSpc>
                <a:spcPct val="122000"/>
              </a:lnSpc>
              <a:spcAft>
                <a:spcPts val="500"/>
              </a:spcAft>
            </a:pPr>
            <a:r>
              <a:rPr sz="1300" b="1">
                <a:solidFill>
                  <a:srgbClr val="A8231B"/>
                </a:solidFill>
                <a:latin typeface="Arial"/>
              </a:rPr>
              <a:t>What is in each</a:t>
            </a:r>
          </a:p>
          <a:p>
            <a:pPr algn="l">
              <a:lnSpc>
                <a:spcPct val="122000"/>
              </a:lnSpc>
              <a:spcAft>
                <a:spcPts val="400"/>
              </a:spcAft>
            </a:pPr>
            <a:r>
              <a:rPr sz="1250" b="1">
                <a:solidFill>
                  <a:srgbClr val="333840"/>
                </a:solidFill>
                <a:latin typeface="Arial"/>
              </a:rPr>
              <a:t>Repository</a:t>
            </a:r>
            <a:r>
              <a:rPr sz="1250" b="0">
                <a:solidFill>
                  <a:srgbClr val="333840"/>
                </a:solidFill>
                <a:latin typeface="Arial"/>
              </a:rPr>
              <a:t> — the full linkage engine, forecast, triage and person resolution; the API gateway with its access-control layer; the job and event functions; the React client; and the synthetic data generator with its ground truth, so every figure on slide 12 can be reproduced.</a:t>
            </a:r>
          </a:p>
          <a:p>
            <a:pPr algn="l">
              <a:lnSpc>
                <a:spcPct val="122000"/>
              </a:lnSpc>
              <a:spcAft>
                <a:spcPts val="400"/>
              </a:spcAft>
            </a:pPr>
            <a:r>
              <a:rPr sz="1250" b="1">
                <a:solidFill>
                  <a:srgbClr val="333840"/>
                </a:solidFill>
                <a:latin typeface="Arial"/>
              </a:rPr>
              <a:t>Deployed link</a:t>
            </a:r>
            <a:r>
              <a:rPr sz="1250" b="0">
                <a:solidFill>
                  <a:srgbClr val="333840"/>
                </a:solidFill>
                <a:latin typeface="Arial"/>
              </a:rPr>
              <a:t> — open it a minute or two before viewing. The engine idles between uses and the status bar reads ENGINE LIVE once it is warm.</a:t>
            </a:r>
          </a:p>
          <a:p>
            <a:pPr algn="l">
              <a:lnSpc>
                <a:spcPct val="122000"/>
              </a:lnSpc>
              <a:spcAft>
                <a:spcPts val="700"/>
              </a:spcAft>
            </a:pPr>
            <a:r>
              <a:rPr sz="1250" b="1">
                <a:solidFill>
                  <a:srgbClr val="333840"/>
                </a:solidFill>
                <a:latin typeface="Arial"/>
              </a:rPr>
              <a:t>Deep links worth trying</a:t>
            </a:r>
            <a:r>
              <a:rPr sz="1250" b="0">
                <a:solidFill>
                  <a:srgbClr val="333840"/>
                </a:solidFill>
                <a:latin typeface="Arial"/>
              </a:rPr>
              <a:t> — ?tab=model for measured accuracy, ?group=SER-001 for a linked group with its forecast, and ?role=investigator&amp;district=577 to see the access model restrict the 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png"/>
          <p:cNvPicPr>
            <a:picLocks noChangeAspect="1"/>
          </p:cNvPicPr>
          <p:nvPr/>
        </p:nvPicPr>
        <p:blipFill>
          <a:blip r:embed="rId2"/>
          <a:stretch>
            <a:fillRect/>
          </a:stretch>
        </p:blipFill>
        <p:spPr>
          <a:xfrm>
            <a:off x="0" y="0"/>
            <a:ext cx="12191695" cy="704409"/>
          </a:xfrm>
          <a:prstGeom prst="rect">
            <a:avLst/>
          </a:prstGeom>
        </p:spPr>
      </p:pic>
      <p:pic>
        <p:nvPicPr>
          <p:cNvPr id="3" name="Picture 2" descr="footer.png"/>
          <p:cNvPicPr>
            <a:picLocks noChangeAspect="1"/>
          </p:cNvPicPr>
          <p:nvPr/>
        </p:nvPicPr>
        <p:blipFill>
          <a:blip r:embed="rId3"/>
          <a:stretch>
            <a:fillRect/>
          </a:stretch>
        </p:blipFill>
        <p:spPr>
          <a:xfrm>
            <a:off x="0" y="6708990"/>
            <a:ext cx="12191695" cy="149010"/>
          </a:xfrm>
          <a:prstGeom prst="rect">
            <a:avLst/>
          </a:prstGeom>
        </p:spPr>
      </p:pic>
      <p:sp>
        <p:nvSpPr>
          <p:cNvPr id="4" name="TextBox 3"/>
          <p:cNvSpPr txBox="1"/>
          <p:nvPr/>
        </p:nvSpPr>
        <p:spPr>
          <a:xfrm>
            <a:off x="384048" y="905577"/>
            <a:ext cx="11368735" cy="548640"/>
          </a:xfrm>
          <a:prstGeom prst="rect">
            <a:avLst/>
          </a:prstGeom>
          <a:noFill/>
        </p:spPr>
        <p:txBody>
          <a:bodyPr wrap="square">
            <a:spAutoFit/>
          </a:bodyPr>
          <a:lstStyle/>
          <a:p>
            <a:pPr algn="l"/>
            <a:r>
              <a:rPr sz="2600" b="1">
                <a:solidFill>
                  <a:srgbClr val="111111"/>
                </a:solidFill>
                <a:latin typeface="Arial"/>
              </a:rPr>
              <a:t>Additional Details / Future Development</a:t>
            </a:r>
          </a:p>
        </p:txBody>
      </p:sp>
      <p:sp>
        <p:nvSpPr>
          <p:cNvPr id="5" name="TextBox 4"/>
          <p:cNvSpPr txBox="1"/>
          <p:nvPr/>
        </p:nvSpPr>
        <p:spPr>
          <a:xfrm>
            <a:off x="502920" y="1573089"/>
            <a:ext cx="11185855" cy="4873430"/>
          </a:xfrm>
          <a:prstGeom prst="rect">
            <a:avLst/>
          </a:prstGeom>
          <a:noFill/>
        </p:spPr>
        <p:txBody>
          <a:bodyPr wrap="square">
            <a:spAutoFit/>
          </a:bodyPr>
          <a:lstStyle/>
          <a:p>
            <a:pPr algn="l">
              <a:lnSpc>
                <a:spcPct val="122000"/>
              </a:lnSpc>
              <a:spcAft>
                <a:spcPts val="600"/>
              </a:spcAft>
            </a:pPr>
            <a:r>
              <a:rPr sz="1300" b="1">
                <a:solidFill>
                  <a:srgbClr val="333840"/>
                </a:solidFill>
                <a:latin typeface="Arial"/>
              </a:rPr>
              <a:t>Go live on real FIR data.</a:t>
            </a:r>
            <a:r>
              <a:rPr sz="1300" b="0">
                <a:solidFill>
                  <a:srgbClr val="333840"/>
                </a:solidFill>
                <a:latin typeface="Arial"/>
              </a:rPr>
              <a:t> The Data Store schema and loader are built and the engine already has a Data Store backend; populating the 28 tables switches the source with no code change. Full-text search on BriefFacts comes with it.</a:t>
            </a:r>
          </a:p>
          <a:p>
            <a:pPr algn="l">
              <a:lnSpc>
                <a:spcPct val="122000"/>
              </a:lnSpc>
              <a:spcAft>
                <a:spcPts val="600"/>
              </a:spcAft>
            </a:pPr>
            <a:r>
              <a:rPr sz="1300" b="1">
                <a:solidFill>
                  <a:srgbClr val="333840"/>
                </a:solidFill>
                <a:latin typeface="Arial"/>
              </a:rPr>
              <a:t>Promote to a Production environment.</a:t>
            </a:r>
            <a:r>
              <a:rPr sz="1300" b="0">
                <a:solidFill>
                  <a:srgbClr val="333840"/>
                </a:solidFill>
                <a:latin typeface="Arial"/>
              </a:rPr>
              <a:t> The prototype runs on the Catalyst Development environment.</a:t>
            </a:r>
          </a:p>
          <a:p>
            <a:pPr algn="l">
              <a:lnSpc>
                <a:spcPct val="122000"/>
              </a:lnSpc>
              <a:spcAft>
                <a:spcPts val="600"/>
              </a:spcAft>
            </a:pPr>
            <a:r>
              <a:rPr sz="1300" b="1">
                <a:solidFill>
                  <a:srgbClr val="333840"/>
                </a:solidFill>
                <a:latin typeface="Arial"/>
              </a:rPr>
              <a:t>Close the loop on the auto-flag.</a:t>
            </a:r>
            <a:r>
              <a:rPr sz="1300" b="0">
                <a:solidFill>
                  <a:srgbClr val="333840"/>
                </a:solidFill>
                <a:latin typeface="Arial"/>
              </a:rPr>
              <a:t> The Signals event function is deployed; binding it to the FIR insert event turns triage from a screen an officer opens into something that happens the moment a case is registered.</a:t>
            </a:r>
          </a:p>
          <a:p>
            <a:pPr algn="l">
              <a:lnSpc>
                <a:spcPct val="122000"/>
              </a:lnSpc>
              <a:spcAft>
                <a:spcPts val="600"/>
              </a:spcAft>
            </a:pPr>
            <a:r>
              <a:rPr sz="1300" b="1">
                <a:solidFill>
                  <a:srgbClr val="333840"/>
                </a:solidFill>
                <a:latin typeface="Arial"/>
              </a:rPr>
              <a:t>Kannada voice and translation.</a:t>
            </a:r>
            <a:r>
              <a:rPr sz="1300" b="0">
                <a:solidFill>
                  <a:srgbClr val="333840"/>
                </a:solidFill>
                <a:latin typeface="Arial"/>
              </a:rPr>
              <a:t> The interface is already bilingual; Zia Services would add speech input and translation of free-text complaints.</a:t>
            </a:r>
          </a:p>
          <a:p>
            <a:pPr algn="l">
              <a:lnSpc>
                <a:spcPct val="122000"/>
              </a:lnSpc>
              <a:spcAft>
                <a:spcPts val="600"/>
              </a:spcAft>
            </a:pPr>
            <a:r>
              <a:rPr sz="1300" b="1">
                <a:solidFill>
                  <a:srgbClr val="333840"/>
                </a:solidFill>
                <a:latin typeface="Arial"/>
              </a:rPr>
              <a:t>QuickML for richer semantic search.</a:t>
            </a:r>
            <a:r>
              <a:rPr sz="1300" b="0">
                <a:solidFill>
                  <a:srgbClr val="333840"/>
                </a:solidFill>
                <a:latin typeface="Arial"/>
              </a:rPr>
              <a:t> Retrieval today is deterministic; a RAG layer over the same cited records would widen natural-language querying without loosening the no-hallucination guarantee.</a:t>
            </a:r>
          </a:p>
          <a:p>
            <a:pPr algn="l">
              <a:lnSpc>
                <a:spcPct val="122000"/>
              </a:lnSpc>
              <a:spcAft>
                <a:spcPts val="600"/>
              </a:spcAft>
            </a:pPr>
            <a:r>
              <a:rPr sz="1300" b="1">
                <a:solidFill>
                  <a:srgbClr val="333840"/>
                </a:solidFill>
                <a:latin typeface="Arial"/>
              </a:rPr>
              <a:t>Zia AutoML for district-level risk forecasting</a:t>
            </a:r>
            <a:r>
              <a:rPr sz="1300" b="0">
                <a:solidFill>
                  <a:srgbClr val="333840"/>
                </a:solidFill>
                <a:latin typeface="Arial"/>
              </a:rPr>
              <a:t>, complementing the per-group projection already shipped.</a:t>
            </a:r>
          </a:p>
          <a:p>
            <a:pPr algn="l">
              <a:lnSpc>
                <a:spcPct val="122000"/>
              </a:lnSpc>
              <a:spcAft>
                <a:spcPts val="1200"/>
              </a:spcAft>
            </a:pPr>
            <a:r>
              <a:rPr sz="1300" b="1">
                <a:solidFill>
                  <a:srgbClr val="333840"/>
                </a:solidFill>
                <a:latin typeface="Arial"/>
              </a:rPr>
              <a:t>Learn from investigator feedback.</a:t>
            </a:r>
            <a:r>
              <a:rPr sz="1300" b="0">
                <a:solidFill>
                  <a:srgbClr val="333840"/>
                </a:solidFill>
                <a:latin typeface="Arial"/>
              </a:rPr>
              <a:t> Every group can be marked assigned or dismissed — those judgements are the labels needed to tune signal weights against real outcomes rather than planted ground truth.</a:t>
            </a:r>
          </a:p>
          <a:p>
            <a:pPr algn="l">
              <a:lnSpc>
                <a:spcPct val="122000"/>
              </a:lnSpc>
              <a:spcAft>
                <a:spcPts val="500"/>
              </a:spcAft>
            </a:pPr>
            <a:r>
              <a:rPr sz="1300" b="1">
                <a:solidFill>
                  <a:srgbClr val="A8231B"/>
                </a:solidFill>
                <a:latin typeface="Arial"/>
              </a:rPr>
              <a:t>Where the method fails — stated on the slide deliberately</a:t>
            </a:r>
          </a:p>
          <a:p>
            <a:pPr algn="l">
              <a:lnSpc>
                <a:spcPct val="122000"/>
              </a:lnSpc>
              <a:spcAft>
                <a:spcPts val="700"/>
              </a:spcAft>
            </a:pPr>
            <a:r>
              <a:rPr sz="1250" b="0">
                <a:solidFill>
                  <a:srgbClr val="333840"/>
                </a:solidFill>
                <a:latin typeface="Arial"/>
              </a:rPr>
              <a:t>Links are </a:t>
            </a:r>
            <a:r>
              <a:rPr sz="1250" b="1">
                <a:solidFill>
                  <a:srgbClr val="333840"/>
                </a:solidFill>
                <a:latin typeface="Arial"/>
              </a:rPr>
              <a:t>inferred, never asserted</a:t>
            </a:r>
            <a:r>
              <a:rPr sz="1250" b="0">
                <a:solidFill>
                  <a:srgbClr val="333840"/>
                </a:solidFill>
                <a:latin typeface="Arial"/>
              </a:rPr>
              <a:t> — a lead to investigate, not evidence. Two unrelated offenders working the same market at the same hour can look alike. Sparse complaint text weakens the strongest signal, though the weights renormalise so linkage still runs. Complainant caste and religion exist in the schema and are </a:t>
            </a:r>
            <a:r>
              <a:rPr sz="1250" b="1">
                <a:solidFill>
                  <a:srgbClr val="333840"/>
                </a:solidFill>
                <a:latin typeface="Arial"/>
              </a:rPr>
              <a:t>deliberately excluded</a:t>
            </a:r>
            <a:r>
              <a:rPr sz="1250" b="0">
                <a:solidFill>
                  <a:srgbClr val="333840"/>
                </a:solidFill>
                <a:latin typeface="Arial"/>
              </a:rPr>
              <a:t> from linkage.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16.png"/>
          <p:cNvPicPr>
            <a:picLocks noChangeAspect="1"/>
          </p:cNvPicPr>
          <p:nvPr/>
        </p:nvPicPr>
        <p:blipFill>
          <a:blip r:embed="rId2"/>
          <a:stretch>
            <a:fillRect/>
          </a:stretch>
        </p:blipFill>
        <p:spPr>
          <a:xfrm>
            <a:off x="0" y="0"/>
            <a:ext cx="12191695" cy="68612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