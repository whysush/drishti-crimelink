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itle_art.png"/>
          <p:cNvPicPr>
            <a:picLocks noChangeAspect="1"/>
          </p:cNvPicPr>
          <p:nvPr/>
        </p:nvPicPr>
        <p:blipFill>
          <a:blip r:embed="rId2"/>
          <a:stretch>
            <a:fillRect/>
          </a:stretch>
        </p:blipFill>
        <p:spPr>
          <a:xfrm>
            <a:off x="0" y="0"/>
            <a:ext cx="12191695" cy="4131630"/>
          </a:xfrm>
          <a:prstGeom prst="rect">
            <a:avLst/>
          </a:prstGeom>
        </p:spPr>
      </p:pic>
      <p:pic>
        <p:nvPicPr>
          <p:cNvPr id="3" name="Picture 2" descr="footer.png"/>
          <p:cNvPicPr>
            <a:picLocks noChangeAspect="1"/>
          </p:cNvPicPr>
          <p:nvPr/>
        </p:nvPicPr>
        <p:blipFill>
          <a:blip r:embed="rId3"/>
          <a:stretch>
            <a:fillRect/>
          </a:stretch>
        </p:blipFill>
        <p:spPr>
          <a:xfrm>
            <a:off x="0" y="6708990"/>
            <a:ext cx="12191695" cy="149010"/>
          </a:xfrm>
          <a:prstGeom prst="rect">
            <a:avLst/>
          </a:prstGeom>
        </p:spPr>
      </p:pic>
      <p:sp>
        <p:nvSpPr>
          <p:cNvPr id="4" name="TextBox 3"/>
          <p:cNvSpPr txBox="1"/>
          <p:nvPr/>
        </p:nvSpPr>
        <p:spPr>
          <a:xfrm>
            <a:off x="566928" y="4332798"/>
            <a:ext cx="11155680" cy="457200"/>
          </a:xfrm>
          <a:prstGeom prst="rect">
            <a:avLst/>
          </a:prstGeom>
          <a:noFill/>
        </p:spPr>
        <p:txBody>
          <a:bodyPr wrap="square">
            <a:spAutoFit/>
          </a:bodyPr>
          <a:lstStyle/>
          <a:p>
            <a:pPr algn="l"/>
            <a:r>
              <a:rPr sz="2100" b="1">
                <a:solidFill>
                  <a:srgbClr val="111111"/>
                </a:solidFill>
                <a:latin typeface="Arial"/>
              </a:rPr>
              <a:t>Team Details</a:t>
            </a:r>
          </a:p>
        </p:txBody>
      </p:sp>
      <p:sp>
        <p:nvSpPr>
          <p:cNvPr id="5" name="TextBox 4"/>
          <p:cNvSpPr txBox="1"/>
          <p:nvPr/>
        </p:nvSpPr>
        <p:spPr>
          <a:xfrm>
            <a:off x="1051560" y="4844862"/>
            <a:ext cx="10424160" cy="1463040"/>
          </a:xfrm>
          <a:prstGeom prst="rect">
            <a:avLst/>
          </a:prstGeom>
          <a:noFill/>
        </p:spPr>
        <p:txBody>
          <a:bodyPr wrap="square">
            <a:spAutoFit/>
          </a:bodyPr>
          <a:lstStyle/>
          <a:p>
            <a:pPr algn="l">
              <a:lnSpc>
                <a:spcPct val="122000"/>
              </a:lnSpc>
              <a:spcAft>
                <a:spcPts val="400"/>
              </a:spcAft>
            </a:pPr>
            <a:r>
              <a:rPr sz="1400" b="0">
                <a:solidFill>
                  <a:srgbClr val="111111"/>
                </a:solidFill>
                <a:latin typeface="Arial"/>
              </a:rPr>
              <a:t>a.   </a:t>
            </a:r>
            <a:r>
              <a:rPr sz="1400" b="1">
                <a:solidFill>
                  <a:srgbClr val="111111"/>
                </a:solidFill>
                <a:latin typeface="Arial"/>
              </a:rPr>
              <a:t>Team name:</a:t>
            </a:r>
            <a:r>
              <a:rPr sz="1400" b="0">
                <a:solidFill>
                  <a:srgbClr val="111111"/>
                </a:solidFill>
                <a:latin typeface="Arial"/>
              </a:rPr>
              <a:t>  Rangdari Gang</a:t>
            </a:r>
          </a:p>
          <a:p>
            <a:pPr algn="l">
              <a:lnSpc>
                <a:spcPct val="122000"/>
              </a:lnSpc>
              <a:spcAft>
                <a:spcPts val="400"/>
              </a:spcAft>
            </a:pPr>
            <a:r>
              <a:rPr sz="1400" b="0">
                <a:solidFill>
                  <a:srgbClr val="111111"/>
                </a:solidFill>
                <a:latin typeface="Arial"/>
              </a:rPr>
              <a:t>b.   </a:t>
            </a:r>
            <a:r>
              <a:rPr sz="1400" b="1">
                <a:solidFill>
                  <a:srgbClr val="111111"/>
                </a:solidFill>
                <a:latin typeface="Arial"/>
              </a:rPr>
              <a:t>Team leader name:</a:t>
            </a:r>
            <a:r>
              <a:rPr sz="1400" b="0">
                <a:solidFill>
                  <a:srgbClr val="111111"/>
                </a:solidFill>
                <a:latin typeface="Arial"/>
              </a:rPr>
              <a:t>  Soma Mishra</a:t>
            </a:r>
          </a:p>
          <a:p>
            <a:pPr algn="l">
              <a:lnSpc>
                <a:spcPct val="122000"/>
              </a:lnSpc>
              <a:spcAft>
                <a:spcPts val="400"/>
              </a:spcAft>
            </a:pPr>
            <a:r>
              <a:rPr sz="1400" b="0">
                <a:solidFill>
                  <a:srgbClr val="111111"/>
                </a:solidFill>
                <a:latin typeface="Arial"/>
              </a:rPr>
              <a:t>c.   </a:t>
            </a:r>
            <a:r>
              <a:rPr sz="1400" b="1">
                <a:solidFill>
                  <a:srgbClr val="111111"/>
                </a:solidFill>
                <a:latin typeface="Arial"/>
              </a:rPr>
              <a:t>Team size:</a:t>
            </a:r>
            <a:r>
              <a:rPr sz="1400" b="0">
                <a:solidFill>
                  <a:srgbClr val="111111"/>
                </a:solidFill>
                <a:latin typeface="Arial"/>
              </a:rPr>
              <a:t>  2  (Sushanth Yelishetty and Soma Mishra)</a:t>
            </a:r>
          </a:p>
          <a:p>
            <a:pPr algn="l">
              <a:lnSpc>
                <a:spcPct val="122000"/>
              </a:lnSpc>
              <a:spcAft>
                <a:spcPts val="700"/>
              </a:spcAft>
            </a:pPr>
            <a:r>
              <a:rPr sz="1400" b="0">
                <a:solidFill>
                  <a:srgbClr val="111111"/>
                </a:solidFill>
                <a:latin typeface="Arial"/>
              </a:rPr>
              <a:t>d.   </a:t>
            </a:r>
            <a:r>
              <a:rPr sz="1400" b="1">
                <a:solidFill>
                  <a:srgbClr val="111111"/>
                </a:solidFill>
                <a:latin typeface="Arial"/>
              </a:rPr>
              <a:t>Problem Statement:</a:t>
            </a:r>
            <a:r>
              <a:rPr sz="1400" b="0">
                <a:solidFill>
                  <a:srgbClr val="111111"/>
                </a:solidFill>
                <a:latin typeface="Arial"/>
              </a:rPr>
              <a:t>  AI-Driven Crime Analytics &amp; Visualization Platform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12191695" cy="704409"/>
          </a:xfrm>
          <a:prstGeom prst="rect">
            <a:avLst/>
          </a:prstGeom>
        </p:spPr>
      </p:pic>
      <p:pic>
        <p:nvPicPr>
          <p:cNvPr id="3" name="Picture 2" descr="footer.png"/>
          <p:cNvPicPr>
            <a:picLocks noChangeAspect="1"/>
          </p:cNvPicPr>
          <p:nvPr/>
        </p:nvPicPr>
        <p:blipFill>
          <a:blip r:embed="rId3"/>
          <a:stretch>
            <a:fillRect/>
          </a:stretch>
        </p:blipFill>
        <p:spPr>
          <a:xfrm>
            <a:off x="0" y="6708990"/>
            <a:ext cx="12191695" cy="149010"/>
          </a:xfrm>
          <a:prstGeom prst="rect">
            <a:avLst/>
          </a:prstGeom>
        </p:spPr>
      </p:pic>
      <p:sp>
        <p:nvSpPr>
          <p:cNvPr id="4" name="TextBox 3"/>
          <p:cNvSpPr txBox="1"/>
          <p:nvPr/>
        </p:nvSpPr>
        <p:spPr>
          <a:xfrm>
            <a:off x="384048" y="905577"/>
            <a:ext cx="11368735" cy="548640"/>
          </a:xfrm>
          <a:prstGeom prst="rect">
            <a:avLst/>
          </a:prstGeom>
          <a:noFill/>
        </p:spPr>
        <p:txBody>
          <a:bodyPr wrap="square">
            <a:spAutoFit/>
          </a:bodyPr>
          <a:lstStyle/>
          <a:p>
            <a:pPr algn="l"/>
            <a:r>
              <a:rPr sz="2600" b="1">
                <a:solidFill>
                  <a:srgbClr val="111111"/>
                </a:solidFill>
                <a:latin typeface="Arial"/>
              </a:rPr>
              <a:t>Brief about the solution</a:t>
            </a:r>
          </a:p>
        </p:txBody>
      </p:sp>
      <p:sp>
        <p:nvSpPr>
          <p:cNvPr id="5" name="TextBox 4"/>
          <p:cNvSpPr txBox="1"/>
          <p:nvPr/>
        </p:nvSpPr>
        <p:spPr>
          <a:xfrm>
            <a:off x="502920" y="1573089"/>
            <a:ext cx="11185855" cy="4873430"/>
          </a:xfrm>
          <a:prstGeom prst="rect">
            <a:avLst/>
          </a:prstGeom>
          <a:noFill/>
        </p:spPr>
        <p:txBody>
          <a:bodyPr wrap="square">
            <a:spAutoFit/>
          </a:bodyPr>
          <a:lstStyle/>
          <a:p>
            <a:pPr algn="l">
              <a:lnSpc>
                <a:spcPct val="122000"/>
              </a:lnSpc>
              <a:spcAft>
                <a:spcPts val="1000"/>
              </a:spcAft>
            </a:pPr>
            <a:r>
              <a:rPr sz="1500" b="1">
                <a:solidFill>
                  <a:srgbClr val="111111"/>
                </a:solidFill>
                <a:latin typeface="Arial"/>
              </a:rPr>
              <a:t>Drishti links undetected cases by how the crime was done, not by who was named.</a:t>
            </a:r>
          </a:p>
          <a:p>
            <a:pPr algn="l">
              <a:lnSpc>
                <a:spcPct val="122000"/>
              </a:lnSpc>
              <a:spcAft>
                <a:spcPts val="700"/>
              </a:spcAft>
            </a:pPr>
            <a:r>
              <a:rPr sz="1350" b="0">
                <a:solidFill>
                  <a:srgbClr val="333840"/>
                </a:solidFill>
                <a:latin typeface="Arial"/>
              </a:rPr>
              <a:t>Karnataka carries thousands of undetected cases (final report type C). They sit in isolation because the FIR schema has </a:t>
            </a:r>
            <a:r>
              <a:rPr sz="1350" b="1">
                <a:solidFill>
                  <a:srgbClr val="333840"/>
                </a:solidFill>
                <a:latin typeface="Arial"/>
              </a:rPr>
              <a:t>no global offender identity</a:t>
            </a:r>
            <a:r>
              <a:rPr sz="1350" b="0">
                <a:solidFill>
                  <a:srgbClr val="333840"/>
                </a:solidFill>
                <a:latin typeface="Arial"/>
              </a:rPr>
              <a:t> — Accused.PersonID is documented as “A1, A2, A3…”, a sort order within a single FIR. When one offender works across several stations the database holds several unrelated name strings, and nobody joins them.</a:t>
            </a:r>
          </a:p>
          <a:p>
            <a:pPr algn="l">
              <a:lnSpc>
                <a:spcPct val="122000"/>
              </a:lnSpc>
              <a:spcAft>
                <a:spcPts val="700"/>
              </a:spcAft>
            </a:pPr>
            <a:r>
              <a:rPr sz="1350" b="0">
                <a:solidFill>
                  <a:srgbClr val="333840"/>
                </a:solidFill>
                <a:latin typeface="Arial"/>
              </a:rPr>
              <a:t>For every undetected FIR the engine builds a </a:t>
            </a:r>
            <a:r>
              <a:rPr sz="1350" b="1">
                <a:solidFill>
                  <a:srgbClr val="333840"/>
                </a:solidFill>
                <a:latin typeface="Arial"/>
              </a:rPr>
              <a:t>behavioural fingerprint</a:t>
            </a:r>
            <a:r>
              <a:rPr sz="1350" b="0">
                <a:solidFill>
                  <a:srgbClr val="333840"/>
                </a:solidFill>
                <a:latin typeface="Arial"/>
              </a:rPr>
              <a:t> from seven weighted signals — modus operandi text, offence type, the Act and Section invoked, location, time-of-day pattern and victim profile. It scores every pair of cases, then groups the look-alikes using </a:t>
            </a:r>
            <a:r>
              <a:rPr sz="1350" b="1">
                <a:solidFill>
                  <a:srgbClr val="333840"/>
                </a:solidFill>
                <a:latin typeface="Arial"/>
              </a:rPr>
              <a:t>agglomerative clustering</a:t>
            </a:r>
            <a:r>
              <a:rPr sz="1350" b="0">
                <a:solidFill>
                  <a:srgbClr val="333840"/>
                </a:solidFill>
                <a:latin typeface="Arial"/>
              </a:rPr>
              <a:t> on the resulting distance matrix. Each pair's score is discounted by how much evidence was actually available, so thin data makes the engine more cautious rather than louder.</a:t>
            </a:r>
          </a:p>
          <a:p>
            <a:pPr algn="l">
              <a:lnSpc>
                <a:spcPct val="122000"/>
              </a:lnSpc>
              <a:spcAft>
                <a:spcPts val="700"/>
              </a:spcAft>
            </a:pPr>
            <a:r>
              <a:rPr sz="1350" b="0">
                <a:solidFill>
                  <a:srgbClr val="333840"/>
                </a:solidFill>
                <a:latin typeface="Arial"/>
              </a:rPr>
              <a:t>The output is a </a:t>
            </a:r>
            <a:r>
              <a:rPr sz="1350" b="1">
                <a:solidFill>
                  <a:srgbClr val="333840"/>
                </a:solidFill>
                <a:latin typeface="Arial"/>
              </a:rPr>
              <a:t>ranked queue of suspected offender groups</a:t>
            </a:r>
            <a:r>
              <a:rPr sz="1350" b="0">
                <a:solidFill>
                  <a:srgbClr val="333840"/>
                </a:solidFill>
                <a:latin typeface="Arial"/>
              </a:rPr>
              <a:t>, each citing real FIR numbers and showing which signals produced the link. From </a:t>
            </a:r>
            <a:r>
              <a:rPr sz="1350" b="1">
                <a:solidFill>
                  <a:srgbClr val="333840"/>
                </a:solidFill>
                <a:latin typeface="Arial"/>
              </a:rPr>
              <a:t>789 undetected cases across 69 stations and 19 districts</a:t>
            </a:r>
            <a:r>
              <a:rPr sz="1350" b="0">
                <a:solidFill>
                  <a:srgbClr val="333840"/>
                </a:solidFill>
                <a:latin typeface="Arial"/>
              </a:rPr>
              <a:t> it surfaces </a:t>
            </a:r>
            <a:r>
              <a:rPr sz="1350" b="1">
                <a:solidFill>
                  <a:srgbClr val="333840"/>
                </a:solidFill>
                <a:latin typeface="Arial"/>
              </a:rPr>
              <a:t>16 groups holding 87 cases — every one spanning more than one police station</a:t>
            </a:r>
            <a:r>
              <a:rPr sz="1350" b="0">
                <a:solidFill>
                  <a:srgbClr val="333840"/>
                </a:solidFill>
                <a:latin typeface="Arial"/>
              </a:rPr>
              <a:t> — then projects where each may strike next.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12191695" cy="704409"/>
          </a:xfrm>
          <a:prstGeom prst="rect">
            <a:avLst/>
          </a:prstGeom>
        </p:spPr>
      </p:pic>
      <p:pic>
        <p:nvPicPr>
          <p:cNvPr id="3" name="Picture 2" descr="footer.png"/>
          <p:cNvPicPr>
            <a:picLocks noChangeAspect="1"/>
          </p:cNvPicPr>
          <p:nvPr/>
        </p:nvPicPr>
        <p:blipFill>
          <a:blip r:embed="rId3"/>
          <a:stretch>
            <a:fillRect/>
          </a:stretch>
        </p:blipFill>
        <p:spPr>
          <a:xfrm>
            <a:off x="0" y="6708990"/>
            <a:ext cx="12191695" cy="149010"/>
          </a:xfrm>
          <a:prstGeom prst="rect">
            <a:avLst/>
          </a:prstGeom>
        </p:spPr>
      </p:pic>
      <p:sp>
        <p:nvSpPr>
          <p:cNvPr id="4" name="TextBox 3"/>
          <p:cNvSpPr txBox="1"/>
          <p:nvPr/>
        </p:nvSpPr>
        <p:spPr>
          <a:xfrm>
            <a:off x="384048" y="905577"/>
            <a:ext cx="11368735" cy="548640"/>
          </a:xfrm>
          <a:prstGeom prst="rect">
            <a:avLst/>
          </a:prstGeom>
          <a:noFill/>
        </p:spPr>
        <p:txBody>
          <a:bodyPr wrap="square">
            <a:spAutoFit/>
          </a:bodyPr>
          <a:lstStyle/>
          <a:p>
            <a:pPr algn="l"/>
            <a:r>
              <a:rPr sz="2600" b="1">
                <a:solidFill>
                  <a:srgbClr val="111111"/>
                </a:solidFill>
                <a:latin typeface="Arial"/>
              </a:rPr>
              <a:t>Opportunities</a:t>
            </a:r>
          </a:p>
        </p:txBody>
      </p:sp>
      <p:sp>
        <p:nvSpPr>
          <p:cNvPr id="5" name="TextBox 4"/>
          <p:cNvSpPr txBox="1"/>
          <p:nvPr/>
        </p:nvSpPr>
        <p:spPr>
          <a:xfrm>
            <a:off x="502920" y="1573089"/>
            <a:ext cx="11185855" cy="4873430"/>
          </a:xfrm>
          <a:prstGeom prst="rect">
            <a:avLst/>
          </a:prstGeom>
          <a:noFill/>
        </p:spPr>
        <p:txBody>
          <a:bodyPr wrap="square">
            <a:spAutoFit/>
          </a:bodyPr>
          <a:lstStyle/>
          <a:p>
            <a:pPr algn="l">
              <a:lnSpc>
                <a:spcPct val="122000"/>
              </a:lnSpc>
              <a:spcAft>
                <a:spcPts val="400"/>
              </a:spcAft>
            </a:pPr>
            <a:r>
              <a:rPr sz="1350" b="1">
                <a:solidFill>
                  <a:srgbClr val="A8231B"/>
                </a:solidFill>
                <a:latin typeface="Arial"/>
              </a:rPr>
              <a:t>a.  How different is it from any of the other existing ideas?</a:t>
            </a:r>
          </a:p>
          <a:p>
            <a:pPr algn="l">
              <a:lnSpc>
                <a:spcPct val="122000"/>
              </a:lnSpc>
              <a:spcAft>
                <a:spcPts val="500"/>
              </a:spcAft>
            </a:pPr>
            <a:r>
              <a:rPr sz="1250" b="1">
                <a:solidFill>
                  <a:srgbClr val="666C77"/>
                </a:solidFill>
                <a:latin typeface="Arial"/>
              </a:rPr>
              <a:t>Typical crime tools</a:t>
            </a:r>
            <a:r>
              <a:rPr sz="1250" b="0">
                <a:solidFill>
                  <a:srgbClr val="666C77"/>
                </a:solidFill>
                <a:latin typeface="Arial"/>
              </a:rPr>
              <a:t>                                          →  </a:t>
            </a:r>
            <a:r>
              <a:rPr sz="1250" b="1">
                <a:solidFill>
                  <a:srgbClr val="666C77"/>
                </a:solidFill>
                <a:latin typeface="Arial"/>
              </a:rPr>
              <a:t>Drishti</a:t>
            </a:r>
          </a:p>
          <a:p>
            <a:pPr algn="l">
              <a:lnSpc>
                <a:spcPct val="122000"/>
              </a:lnSpc>
              <a:spcAft>
                <a:spcPts val="300"/>
              </a:spcAft>
            </a:pPr>
            <a:r>
              <a:rPr sz="1200" b="0">
                <a:solidFill>
                  <a:srgbClr val="333840"/>
                </a:solidFill>
                <a:latin typeface="Arial"/>
              </a:rPr>
              <a:t>• Descriptive dashboards showing where crime happened  </a:t>
            </a:r>
            <a:r>
              <a:rPr sz="1200" b="1">
                <a:solidFill>
                  <a:srgbClr val="333840"/>
                </a:solidFill>
                <a:latin typeface="Arial"/>
              </a:rPr>
              <a:t>→  Prescriptive — surfaces hidden links and actionable case series to reopen</a:t>
            </a:r>
          </a:p>
          <a:p>
            <a:pPr algn="l">
              <a:lnSpc>
                <a:spcPct val="122000"/>
              </a:lnSpc>
              <a:spcAft>
                <a:spcPts val="300"/>
              </a:spcAft>
            </a:pPr>
            <a:r>
              <a:rPr sz="1200" b="0">
                <a:solidFill>
                  <a:srgbClr val="333840"/>
                </a:solidFill>
                <a:latin typeface="Arial"/>
              </a:rPr>
              <a:t>• Depend on offender IDs or manual case linking  </a:t>
            </a:r>
            <a:r>
              <a:rPr sz="1200" b="1">
                <a:solidFill>
                  <a:srgbClr val="333840"/>
                </a:solidFill>
                <a:latin typeface="Arial"/>
              </a:rPr>
              <a:t>→  Works without any person ID, using behavioural fingerprinting</a:t>
            </a:r>
          </a:p>
          <a:p>
            <a:pPr algn="l">
              <a:lnSpc>
                <a:spcPct val="122000"/>
              </a:lnSpc>
              <a:spcAft>
                <a:spcPts val="300"/>
              </a:spcAft>
            </a:pPr>
            <a:r>
              <a:rPr sz="1200" b="0">
                <a:solidFill>
                  <a:srgbClr val="333840"/>
                </a:solidFill>
                <a:latin typeface="Arial"/>
              </a:rPr>
              <a:t>• Black-box predictions with limited transparency  </a:t>
            </a:r>
            <a:r>
              <a:rPr sz="1200" b="1">
                <a:solidFill>
                  <a:srgbClr val="333840"/>
                </a:solidFill>
                <a:latin typeface="Arial"/>
              </a:rPr>
              <a:t>→  Explainable evidence trail, measured live — P 0.928 / R 0.965 / F1 0.946</a:t>
            </a:r>
          </a:p>
          <a:p>
            <a:pPr algn="l">
              <a:lnSpc>
                <a:spcPct val="122000"/>
              </a:lnSpc>
              <a:spcAft>
                <a:spcPts val="300"/>
              </a:spcAft>
            </a:pPr>
            <a:r>
              <a:rPr sz="1200" b="0">
                <a:solidFill>
                  <a:srgbClr val="333840"/>
                </a:solidFill>
                <a:latin typeface="Arial"/>
              </a:rPr>
              <a:t>• Perform poorly on sparse free-text reports  </a:t>
            </a:r>
            <a:r>
              <a:rPr sz="1200" b="1">
                <a:solidFill>
                  <a:srgbClr val="333840"/>
                </a:solidFill>
                <a:latin typeface="Arial"/>
              </a:rPr>
              <a:t>→  Degrades safely — weights renormalise and scores are discounted by evidence coverage</a:t>
            </a:r>
          </a:p>
          <a:p>
            <a:pPr algn="l">
              <a:lnSpc>
                <a:spcPct val="122000"/>
              </a:lnSpc>
              <a:spcAft>
                <a:spcPts val="300"/>
              </a:spcAft>
            </a:pPr>
            <a:r>
              <a:rPr sz="1200" b="0">
                <a:solidFill>
                  <a:srgbClr val="333840"/>
                </a:solidFill>
                <a:latin typeface="Arial"/>
              </a:rPr>
              <a:t>• Rely on external LLM APIs, with per-query cost and off-premises processing  </a:t>
            </a:r>
            <a:r>
              <a:rPr sz="1200" b="1">
                <a:solidFill>
                  <a:srgbClr val="333840"/>
                </a:solidFill>
                <a:latin typeface="Arial"/>
              </a:rPr>
              <a:t>→  On-premises friendly — deterministic scikit-learn, no LLM API, data stays in Catalyst</a:t>
            </a:r>
          </a:p>
          <a:p>
            <a:pPr algn="l">
              <a:lnSpc>
                <a:spcPct val="122000"/>
              </a:lnSpc>
              <a:spcAft>
                <a:spcPts val="400"/>
              </a:spcAft>
            </a:pPr>
            <a:r>
              <a:rPr sz="1350" b="1">
                <a:solidFill>
                  <a:srgbClr val="A8231B"/>
                </a:solidFill>
                <a:latin typeface="Arial"/>
              </a:rPr>
              <a:t>b.  How will it be able to solve the problem?</a:t>
            </a:r>
          </a:p>
          <a:p>
            <a:pPr algn="l">
              <a:lnSpc>
                <a:spcPct val="122000"/>
              </a:lnSpc>
              <a:spcAft>
                <a:spcPts val="700"/>
              </a:spcAft>
            </a:pPr>
            <a:r>
              <a:rPr sz="1250" b="0">
                <a:solidFill>
                  <a:srgbClr val="333840"/>
                </a:solidFill>
                <a:latin typeface="Arial"/>
              </a:rPr>
              <a:t>An investigating officer sees their own station's cases. Nobody is positioned to notice that four robberies in four different stations share a method, an hour and a radius. Drishti runs that comparison statewide, with the evidence attached — then closes the loop forward, scoring each newly registered FIR against every known group as it lands, so a case joins a pattern </a:t>
            </a:r>
            <a:r>
              <a:rPr sz="1250" b="1">
                <a:solidFill>
                  <a:srgbClr val="333840"/>
                </a:solidFill>
                <a:latin typeface="Arial"/>
              </a:rPr>
              <a:t>before</a:t>
            </a:r>
            <a:r>
              <a:rPr sz="1250" b="0">
                <a:solidFill>
                  <a:srgbClr val="333840"/>
                </a:solidFill>
                <a:latin typeface="Arial"/>
              </a:rPr>
              <a:t> it is worked as an isolated file.</a:t>
            </a:r>
          </a:p>
          <a:p>
            <a:pPr algn="l">
              <a:lnSpc>
                <a:spcPct val="122000"/>
              </a:lnSpc>
              <a:spcAft>
                <a:spcPts val="400"/>
              </a:spcAft>
            </a:pPr>
            <a:r>
              <a:rPr sz="1350" b="1">
                <a:solidFill>
                  <a:srgbClr val="A8231B"/>
                </a:solidFill>
                <a:latin typeface="Arial"/>
              </a:rPr>
              <a:t>c.  USP of the proposed solution</a:t>
            </a:r>
          </a:p>
          <a:p>
            <a:pPr algn="l">
              <a:lnSpc>
                <a:spcPct val="122000"/>
              </a:lnSpc>
              <a:spcAft>
                <a:spcPts val="300"/>
              </a:spcAft>
            </a:pPr>
            <a:r>
              <a:rPr sz="1200" b="1">
                <a:solidFill>
                  <a:srgbClr val="333840"/>
                </a:solidFill>
                <a:latin typeface="Arial"/>
              </a:rPr>
              <a:t>Works without an offender ID</a:t>
            </a:r>
            <a:r>
              <a:rPr sz="1200" b="0">
                <a:solidFill>
                  <a:srgbClr val="333840"/>
                </a:solidFill>
                <a:latin typeface="Arial"/>
              </a:rPr>
              <a:t> — linkage is behavioural, so it runs on the existing FIR schema unchanged.</a:t>
            </a:r>
          </a:p>
          <a:p>
            <a:pPr algn="l">
              <a:lnSpc>
                <a:spcPct val="122000"/>
              </a:lnSpc>
              <a:spcAft>
                <a:spcPts val="300"/>
              </a:spcAft>
            </a:pPr>
            <a:r>
              <a:rPr sz="1200" b="1">
                <a:solidFill>
                  <a:srgbClr val="333840"/>
                </a:solidFill>
                <a:latin typeface="Arial"/>
              </a:rPr>
              <a:t>Every claim is evidence-backed</a:t>
            </a:r>
            <a:r>
              <a:rPr sz="1200" b="0">
                <a:solidFill>
                  <a:srgbClr val="333840"/>
                </a:solidFill>
                <a:latin typeface="Arial"/>
              </a:rPr>
              <a:t> — per-signal contributions and cited CrimeNo values. If the engine cannot cite it, it does not say it.</a:t>
            </a:r>
          </a:p>
          <a:p>
            <a:pPr algn="l">
              <a:lnSpc>
                <a:spcPct val="122000"/>
              </a:lnSpc>
              <a:spcAft>
                <a:spcPts val="300"/>
              </a:spcAft>
            </a:pPr>
            <a:r>
              <a:rPr sz="1200" b="1">
                <a:solidFill>
                  <a:srgbClr val="333840"/>
                </a:solidFill>
                <a:latin typeface="Arial"/>
              </a:rPr>
              <a:t>It does not invent patterns.</a:t>
            </a:r>
            <a:r>
              <a:rPr sz="1200" b="0">
                <a:solidFill>
                  <a:srgbClr val="333840"/>
                </a:solidFill>
                <a:latin typeface="Arial"/>
              </a:rPr>
              <a:t> Scramble the data so nothing is there and it returns </a:t>
            </a:r>
            <a:r>
              <a:rPr sz="1200" b="1">
                <a:solidFill>
                  <a:srgbClr val="333840"/>
                </a:solidFill>
                <a:latin typeface="Arial"/>
              </a:rPr>
              <a:t>zero groups, on every run</a:t>
            </a:r>
            <a:r>
              <a:rPr sz="1200" b="0">
                <a:solidFill>
                  <a:srgbClr val="333840"/>
                </a:solidFill>
                <a:latin typeface="Arial"/>
              </a:rPr>
              <a:t> — shown live in the product.</a:t>
            </a:r>
          </a:p>
          <a:p>
            <a:pPr algn="l">
              <a:lnSpc>
                <a:spcPct val="122000"/>
              </a:lnSpc>
              <a:spcAft>
                <a:spcPts val="300"/>
              </a:spcAft>
            </a:pPr>
            <a:r>
              <a:rPr sz="1200" b="1">
                <a:solidFill>
                  <a:srgbClr val="333840"/>
                </a:solidFill>
                <a:latin typeface="Arial"/>
              </a:rPr>
              <a:t>Identity carries zero weight, and we proved it should</a:t>
            </a:r>
            <a:r>
              <a:rPr sz="1200" b="0">
                <a:solidFill>
                  <a:srgbClr val="333840"/>
                </a:solidFill>
                <a:latin typeface="Arial"/>
              </a:rPr>
              <a:t> — letting the accused name influence linkage made the engine measurably worse.</a:t>
            </a:r>
          </a:p>
          <a:p>
            <a:pPr algn="l">
              <a:lnSpc>
                <a:spcPct val="122000"/>
              </a:lnSpc>
              <a:spcAft>
                <a:spcPts val="700"/>
              </a:spcAft>
            </a:pPr>
            <a:r>
              <a:rPr sz="1200" b="1">
                <a:solidFill>
                  <a:srgbClr val="333840"/>
                </a:solidFill>
                <a:latin typeface="Arial"/>
              </a:rPr>
              <a:t>Detection becomes prevention</a:t>
            </a:r>
            <a:r>
              <a:rPr sz="1200" b="0">
                <a:solidFill>
                  <a:srgbClr val="333840"/>
                </a:solidFill>
                <a:latin typeface="Arial"/>
              </a:rPr>
              <a:t> — a projected window and area for each group's next offence, back-tested at 92.9% on area, written out in plain language.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12191695" cy="704409"/>
          </a:xfrm>
          <a:prstGeom prst="rect">
            <a:avLst/>
          </a:prstGeom>
        </p:spPr>
      </p:pic>
      <p:pic>
        <p:nvPicPr>
          <p:cNvPr id="3" name="Picture 2" descr="footer.png"/>
          <p:cNvPicPr>
            <a:picLocks noChangeAspect="1"/>
          </p:cNvPicPr>
          <p:nvPr/>
        </p:nvPicPr>
        <p:blipFill>
          <a:blip r:embed="rId3"/>
          <a:stretch>
            <a:fillRect/>
          </a:stretch>
        </p:blipFill>
        <p:spPr>
          <a:xfrm>
            <a:off x="0" y="6708990"/>
            <a:ext cx="12191695" cy="149010"/>
          </a:xfrm>
          <a:prstGeom prst="rect">
            <a:avLst/>
          </a:prstGeom>
        </p:spPr>
      </p:pic>
      <p:sp>
        <p:nvSpPr>
          <p:cNvPr id="4" name="TextBox 3"/>
          <p:cNvSpPr txBox="1"/>
          <p:nvPr/>
        </p:nvSpPr>
        <p:spPr>
          <a:xfrm>
            <a:off x="384048" y="905577"/>
            <a:ext cx="11368735" cy="548640"/>
          </a:xfrm>
          <a:prstGeom prst="rect">
            <a:avLst/>
          </a:prstGeom>
          <a:noFill/>
        </p:spPr>
        <p:txBody>
          <a:bodyPr wrap="square">
            <a:spAutoFit/>
          </a:bodyPr>
          <a:lstStyle/>
          <a:p>
            <a:pPr algn="l"/>
            <a:r>
              <a:rPr sz="2600" b="1">
                <a:solidFill>
                  <a:srgbClr val="111111"/>
                </a:solidFill>
                <a:latin typeface="Arial"/>
              </a:rPr>
              <a:t>List of features offered by the solution</a:t>
            </a:r>
          </a:p>
        </p:txBody>
      </p:sp>
      <p:sp>
        <p:nvSpPr>
          <p:cNvPr id="5" name="TextBox 4"/>
          <p:cNvSpPr txBox="1"/>
          <p:nvPr/>
        </p:nvSpPr>
        <p:spPr>
          <a:xfrm>
            <a:off x="502920" y="1573089"/>
            <a:ext cx="11185855" cy="4873430"/>
          </a:xfrm>
          <a:prstGeom prst="rect">
            <a:avLst/>
          </a:prstGeom>
          <a:noFill/>
        </p:spPr>
        <p:txBody>
          <a:bodyPr wrap="square">
            <a:spAutoFit/>
          </a:bodyPr>
          <a:lstStyle/>
          <a:p>
            <a:pPr algn="l">
              <a:lnSpc>
                <a:spcPct val="122000"/>
              </a:lnSpc>
              <a:spcAft>
                <a:spcPts val="400"/>
              </a:spcAft>
            </a:pPr>
            <a:r>
              <a:rPr sz="1250" b="1">
                <a:solidFill>
                  <a:srgbClr val="333840"/>
                </a:solidFill>
                <a:latin typeface="Arial"/>
              </a:rPr>
              <a:t>Undetected case linkage</a:t>
            </a:r>
            <a:r>
              <a:rPr sz="1250" b="0">
                <a:solidFill>
                  <a:srgbClr val="333840"/>
                </a:solidFill>
                <a:latin typeface="Arial"/>
              </a:rPr>
              <a:t> — behavioural fingerprint over seven weighted signals, composite pairwise similarity discounted by evidence coverage, agglomerative clustering into ranked offender groups</a:t>
            </a:r>
          </a:p>
          <a:p>
            <a:pPr algn="l">
              <a:lnSpc>
                <a:spcPct val="122000"/>
              </a:lnSpc>
              <a:spcAft>
                <a:spcPts val="400"/>
              </a:spcAft>
            </a:pPr>
            <a:r>
              <a:rPr sz="1250" b="1">
                <a:solidFill>
                  <a:srgbClr val="333840"/>
                </a:solidFill>
                <a:latin typeface="Arial"/>
              </a:rPr>
              <a:t>Evidence trail on every link</a:t>
            </a:r>
            <a:r>
              <a:rPr sz="1250" b="0">
                <a:solidFill>
                  <a:srgbClr val="333840"/>
                </a:solidFill>
                <a:latin typeface="Arial"/>
              </a:rPr>
              <a:t> — per-signal contribution, cited FIR numbers, spatial span and a full case timeline</a:t>
            </a:r>
          </a:p>
          <a:p>
            <a:pPr algn="l">
              <a:lnSpc>
                <a:spcPct val="122000"/>
              </a:lnSpc>
              <a:spcAft>
                <a:spcPts val="400"/>
              </a:spcAft>
            </a:pPr>
            <a:r>
              <a:rPr sz="1250" b="1">
                <a:solidFill>
                  <a:srgbClr val="333840"/>
                </a:solidFill>
                <a:latin typeface="Arial"/>
              </a:rPr>
              <a:t>Forecast — its own workspace</a:t>
            </a:r>
            <a:r>
              <a:rPr sz="1250" b="0">
                <a:solidFill>
                  <a:srgbClr val="333840"/>
                </a:solidFill>
                <a:latin typeface="Arial"/>
              </a:rPr>
              <a:t> — every group's projected window, area radius and usual hours, ranked with open windows first and written out as a plain-language report</a:t>
            </a:r>
          </a:p>
          <a:p>
            <a:pPr algn="l">
              <a:lnSpc>
                <a:spcPct val="122000"/>
              </a:lnSpc>
              <a:spcAft>
                <a:spcPts val="400"/>
              </a:spcAft>
            </a:pPr>
            <a:r>
              <a:rPr sz="1250" b="1">
                <a:solidFill>
                  <a:srgbClr val="333840"/>
                </a:solidFill>
                <a:latin typeface="Arial"/>
              </a:rPr>
              <a:t>Live FIR triage</a:t>
            </a:r>
            <a:r>
              <a:rPr sz="1250" b="0">
                <a:solidFill>
                  <a:srgbClr val="333840"/>
                </a:solidFill>
                <a:latin typeface="Arial"/>
              </a:rPr>
              <a:t> — an incoming case scored against every known group, graded against that group's own cohesion — Escalate, Review, or treat as unlinked</a:t>
            </a:r>
          </a:p>
          <a:p>
            <a:pPr algn="l">
              <a:lnSpc>
                <a:spcPct val="122000"/>
              </a:lnSpc>
              <a:spcAft>
                <a:spcPts val="400"/>
              </a:spcAft>
            </a:pPr>
            <a:r>
              <a:rPr sz="1250" b="1">
                <a:solidFill>
                  <a:srgbClr val="333840"/>
                </a:solidFill>
                <a:latin typeface="Arial"/>
              </a:rPr>
              <a:t>Association network</a:t>
            </a:r>
            <a:r>
              <a:rPr sz="1250" b="0">
                <a:solidFill>
                  <a:srgbClr val="333840"/>
                </a:solidFill>
                <a:latin typeface="Arial"/>
              </a:rPr>
              <a:t> — 25 people who never share an FIR, linked by shared modus operandi in overlapping jurisdictions; click one and their whole crime history draws on the map in date order</a:t>
            </a:r>
          </a:p>
          <a:p>
            <a:pPr algn="l">
              <a:lnSpc>
                <a:spcPct val="122000"/>
              </a:lnSpc>
              <a:spcAft>
                <a:spcPts val="400"/>
              </a:spcAft>
            </a:pPr>
            <a:r>
              <a:rPr sz="1250" b="1">
                <a:solidFill>
                  <a:srgbClr val="333840"/>
                </a:solidFill>
                <a:latin typeface="Arial"/>
              </a:rPr>
              <a:t>Interactive 3D district map</a:t>
            </a:r>
            <a:r>
              <a:rPr sz="1250" b="0">
                <a:solidFill>
                  <a:srgbClr val="333840"/>
                </a:solidFill>
                <a:latin typeface="Arial"/>
              </a:rPr>
              <a:t> — districts extruded from real boundaries, with case pins, link webs, forecast rings and red/yellow risk zones</a:t>
            </a:r>
          </a:p>
          <a:p>
            <a:pPr algn="l">
              <a:lnSpc>
                <a:spcPct val="122000"/>
              </a:lnSpc>
              <a:spcAft>
                <a:spcPts val="400"/>
              </a:spcAft>
            </a:pPr>
            <a:r>
              <a:rPr sz="1250" b="1">
                <a:solidFill>
                  <a:srgbClr val="333840"/>
                </a:solidFill>
                <a:latin typeface="Arial"/>
              </a:rPr>
              <a:t>Robustness shown in-product</a:t>
            </a:r>
            <a:r>
              <a:rPr sz="1250" b="0">
                <a:solidFill>
                  <a:srgbClr val="333840"/>
                </a:solidFill>
                <a:latin typeface="Arial"/>
              </a:rPr>
              <a:t> — negative control and graceful-degradation results, recomputed live alongside accuracy</a:t>
            </a:r>
          </a:p>
          <a:p>
            <a:pPr algn="l">
              <a:lnSpc>
                <a:spcPct val="122000"/>
              </a:lnSpc>
              <a:spcAft>
                <a:spcPts val="400"/>
              </a:spcAft>
            </a:pPr>
            <a:r>
              <a:rPr sz="1250" b="1">
                <a:solidFill>
                  <a:srgbClr val="333840"/>
                </a:solidFill>
                <a:latin typeface="Arial"/>
              </a:rPr>
              <a:t>Printable case brief</a:t>
            </a:r>
            <a:r>
              <a:rPr sz="1250" b="0">
                <a:solidFill>
                  <a:srgbClr val="333840"/>
                </a:solidFill>
                <a:latin typeface="Arial"/>
              </a:rPr>
              <a:t> — server-rendered PDF dossier with evidence, timeline, forecast and signature block</a:t>
            </a:r>
          </a:p>
          <a:p>
            <a:pPr algn="l">
              <a:lnSpc>
                <a:spcPct val="122000"/>
              </a:lnSpc>
              <a:spcAft>
                <a:spcPts val="400"/>
              </a:spcAft>
            </a:pPr>
            <a:r>
              <a:rPr sz="1250" b="1">
                <a:solidFill>
                  <a:srgbClr val="333840"/>
                </a:solidFill>
                <a:latin typeface="Arial"/>
              </a:rPr>
              <a:t>Role-based access control</a:t>
            </a:r>
            <a:r>
              <a:rPr sz="1250" b="0">
                <a:solidFill>
                  <a:srgbClr val="333840"/>
                </a:solidFill>
                <a:latin typeface="Arial"/>
              </a:rPr>
              <a:t> — investigator, analyst and supervisor, enforced at the API gateway; investigators scoped to their own district</a:t>
            </a:r>
          </a:p>
          <a:p>
            <a:pPr algn="l">
              <a:lnSpc>
                <a:spcPct val="122000"/>
              </a:lnSpc>
              <a:spcAft>
                <a:spcPts val="400"/>
              </a:spcAft>
            </a:pPr>
            <a:r>
              <a:rPr sz="1250" b="1">
                <a:solidFill>
                  <a:srgbClr val="333840"/>
                </a:solidFill>
                <a:latin typeface="Arial"/>
              </a:rPr>
              <a:t>Natural-language search</a:t>
            </a:r>
            <a:r>
              <a:rPr sz="1250" b="0">
                <a:solidFill>
                  <a:srgbClr val="333840"/>
                </a:solidFill>
                <a:latin typeface="Arial"/>
              </a:rPr>
              <a:t> — retrieval-only, so every answer cites real records and cannot fabricate</a:t>
            </a:r>
          </a:p>
          <a:p>
            <a:pPr algn="l">
              <a:lnSpc>
                <a:spcPct val="122000"/>
              </a:lnSpc>
              <a:spcAft>
                <a:spcPts val="400"/>
              </a:spcAft>
            </a:pPr>
            <a:r>
              <a:rPr sz="1250" b="1">
                <a:solidFill>
                  <a:srgbClr val="333840"/>
                </a:solidFill>
                <a:latin typeface="Arial"/>
              </a:rPr>
              <a:t>Bilingual interface</a:t>
            </a:r>
            <a:r>
              <a:rPr sz="1250" b="0">
                <a:solidFill>
                  <a:srgbClr val="333840"/>
                </a:solidFill>
                <a:latin typeface="Arial"/>
              </a:rPr>
              <a:t> — English and Kannada across all labels, explanations and the written forecast reports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12191695" cy="704409"/>
          </a:xfrm>
          <a:prstGeom prst="rect">
            <a:avLst/>
          </a:prstGeom>
        </p:spPr>
      </p:pic>
      <p:pic>
        <p:nvPicPr>
          <p:cNvPr id="3" name="Picture 2" descr="footer.png"/>
          <p:cNvPicPr>
            <a:picLocks noChangeAspect="1"/>
          </p:cNvPicPr>
          <p:nvPr/>
        </p:nvPicPr>
        <p:blipFill>
          <a:blip r:embed="rId3"/>
          <a:stretch>
            <a:fillRect/>
          </a:stretch>
        </p:blipFill>
        <p:spPr>
          <a:xfrm>
            <a:off x="0" y="6708990"/>
            <a:ext cx="12191695" cy="149010"/>
          </a:xfrm>
          <a:prstGeom prst="rect">
            <a:avLst/>
          </a:prstGeom>
        </p:spPr>
      </p:pic>
      <p:sp>
        <p:nvSpPr>
          <p:cNvPr id="4" name="TextBox 3"/>
          <p:cNvSpPr txBox="1"/>
          <p:nvPr/>
        </p:nvSpPr>
        <p:spPr>
          <a:xfrm>
            <a:off x="384048" y="905577"/>
            <a:ext cx="11368735" cy="548640"/>
          </a:xfrm>
          <a:prstGeom prst="rect">
            <a:avLst/>
          </a:prstGeom>
          <a:noFill/>
        </p:spPr>
        <p:txBody>
          <a:bodyPr wrap="square">
            <a:spAutoFit/>
          </a:bodyPr>
          <a:lstStyle/>
          <a:p>
            <a:pPr algn="l"/>
            <a:r>
              <a:rPr sz="2600" b="1">
                <a:solidFill>
                  <a:srgbClr val="111111"/>
                </a:solidFill>
                <a:latin typeface="Arial"/>
              </a:rPr>
              <a:t>Process flow diagram</a:t>
            </a:r>
          </a:p>
        </p:txBody>
      </p:sp>
      <p:pic>
        <p:nvPicPr>
          <p:cNvPr id="5" name="Picture 4" descr="dg_flow.png"/>
          <p:cNvPicPr>
            <a:picLocks noChangeAspect="1"/>
          </p:cNvPicPr>
          <p:nvPr/>
        </p:nvPicPr>
        <p:blipFill>
          <a:blip r:embed="rId4"/>
          <a:stretch>
            <a:fillRect/>
          </a:stretch>
        </p:blipFill>
        <p:spPr>
          <a:xfrm>
            <a:off x="548640" y="1664529"/>
            <a:ext cx="11109960" cy="2684563"/>
          </a:xfrm>
          <a:prstGeom prst="rect">
            <a:avLst/>
          </a:prstGeom>
        </p:spPr>
      </p:pic>
      <p:sp>
        <p:nvSpPr>
          <p:cNvPr id="6" name="TextBox 5"/>
          <p:cNvSpPr txBox="1"/>
          <p:nvPr/>
        </p:nvSpPr>
        <p:spPr>
          <a:xfrm>
            <a:off x="502920" y="4316289"/>
            <a:ext cx="11185855" cy="2194560"/>
          </a:xfrm>
          <a:prstGeom prst="rect">
            <a:avLst/>
          </a:prstGeom>
          <a:noFill/>
        </p:spPr>
        <p:txBody>
          <a:bodyPr wrap="square">
            <a:spAutoFit/>
          </a:bodyPr>
          <a:lstStyle/>
          <a:p>
            <a:pPr algn="l">
              <a:lnSpc>
                <a:spcPct val="122000"/>
              </a:lnSpc>
              <a:spcAft>
                <a:spcPts val="900"/>
              </a:spcAft>
            </a:pPr>
            <a:r>
              <a:rPr sz="1250" b="0">
                <a:solidFill>
                  <a:srgbClr val="666C77"/>
                </a:solidFill>
                <a:latin typeface="Arial"/>
              </a:rPr>
              <a:t>The same fingerprint runs in both passes — that is what lets a brand-new FIR be judged against groups built from the archive, and why the two lanes are one system rather than two.</a:t>
            </a:r>
          </a:p>
          <a:p>
            <a:pPr algn="l">
              <a:lnSpc>
                <a:spcPct val="122000"/>
              </a:lnSpc>
              <a:spcAft>
                <a:spcPts val="500"/>
              </a:spcAft>
            </a:pPr>
            <a:r>
              <a:rPr sz="1250" b="1">
                <a:solidFill>
                  <a:srgbClr val="333840"/>
                </a:solidFill>
                <a:latin typeface="Arial"/>
              </a:rPr>
              <a:t>Archive pass</a:t>
            </a:r>
            <a:r>
              <a:rPr sz="1250" b="0">
                <a:solidFill>
                  <a:srgbClr val="333840"/>
                </a:solidFill>
                <a:latin typeface="Arial"/>
              </a:rPr>
              <a:t> — every undetected FIR is fingerprinted on seven weighted signals, scored against every other case, and clustered. Groups are ranked by cohesion multiplied by actionability, favouring jurisdictional reach, recency and gravity. Runs nightly.</a:t>
            </a:r>
          </a:p>
          <a:p>
            <a:pPr algn="l">
              <a:lnSpc>
                <a:spcPct val="122000"/>
              </a:lnSpc>
              <a:spcAft>
                <a:spcPts val="500"/>
              </a:spcAft>
            </a:pPr>
            <a:r>
              <a:rPr sz="1250" b="1">
                <a:solidFill>
                  <a:srgbClr val="333840"/>
                </a:solidFill>
                <a:latin typeface="Arial"/>
              </a:rPr>
              <a:t>Live intake</a:t>
            </a:r>
            <a:r>
              <a:rPr sz="1250" b="0">
                <a:solidFill>
                  <a:srgbClr val="333840"/>
                </a:solidFill>
                <a:latin typeface="Arial"/>
              </a:rPr>
              <a:t> — a newly registered FIR is fingerprinted identically and scored against each group, graded against that group's own internal cohesion rather than a fixed threshold.</a:t>
            </a:r>
          </a:p>
          <a:p>
            <a:pPr algn="l">
              <a:lnSpc>
                <a:spcPct val="122000"/>
              </a:lnSpc>
              <a:spcAft>
                <a:spcPts val="700"/>
              </a:spcAft>
            </a:pPr>
            <a:r>
              <a:rPr sz="1250" b="1">
                <a:solidFill>
                  <a:srgbClr val="333840"/>
                </a:solidFill>
                <a:latin typeface="Arial"/>
              </a:rPr>
              <a:t>Nothing is asserted.</a:t>
            </a:r>
            <a:r>
              <a:rPr sz="1250" b="0">
                <a:solidFill>
                  <a:srgbClr val="333840"/>
                </a:solidFill>
                <a:latin typeface="Arial"/>
              </a:rPr>
              <a:t> Each group carries the per-signal contributions that produced it and the real FIR numbers it cites, so an investigator can audit the reasoning.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12191695" cy="704409"/>
          </a:xfrm>
          <a:prstGeom prst="rect">
            <a:avLst/>
          </a:prstGeom>
        </p:spPr>
      </p:pic>
      <p:pic>
        <p:nvPicPr>
          <p:cNvPr id="3" name="Picture 2" descr="footer.png"/>
          <p:cNvPicPr>
            <a:picLocks noChangeAspect="1"/>
          </p:cNvPicPr>
          <p:nvPr/>
        </p:nvPicPr>
        <p:blipFill>
          <a:blip r:embed="rId3"/>
          <a:stretch>
            <a:fillRect/>
          </a:stretch>
        </p:blipFill>
        <p:spPr>
          <a:xfrm>
            <a:off x="0" y="6708990"/>
            <a:ext cx="12191695" cy="149010"/>
          </a:xfrm>
          <a:prstGeom prst="rect">
            <a:avLst/>
          </a:prstGeom>
        </p:spPr>
      </p:pic>
      <p:sp>
        <p:nvSpPr>
          <p:cNvPr id="4" name="TextBox 3"/>
          <p:cNvSpPr txBox="1"/>
          <p:nvPr/>
        </p:nvSpPr>
        <p:spPr>
          <a:xfrm>
            <a:off x="384048" y="905577"/>
            <a:ext cx="11368735" cy="548640"/>
          </a:xfrm>
          <a:prstGeom prst="rect">
            <a:avLst/>
          </a:prstGeom>
          <a:noFill/>
        </p:spPr>
        <p:txBody>
          <a:bodyPr wrap="square">
            <a:spAutoFit/>
          </a:bodyPr>
          <a:lstStyle/>
          <a:p>
            <a:pPr algn="l"/>
            <a:r>
              <a:rPr sz="2600" b="1">
                <a:solidFill>
                  <a:srgbClr val="111111"/>
                </a:solidFill>
                <a:latin typeface="Arial"/>
              </a:rPr>
              <a:t>Wireframes / Mock diagrams of the proposed solution</a:t>
            </a:r>
          </a:p>
        </p:txBody>
      </p:sp>
      <p:pic>
        <p:nvPicPr>
          <p:cNvPr id="5" name="Picture 4" descr="dg_wire.png"/>
          <p:cNvPicPr>
            <a:picLocks noChangeAspect="1"/>
          </p:cNvPicPr>
          <p:nvPr/>
        </p:nvPicPr>
        <p:blipFill>
          <a:blip r:embed="rId4"/>
          <a:stretch>
            <a:fillRect/>
          </a:stretch>
        </p:blipFill>
        <p:spPr>
          <a:xfrm>
            <a:off x="960120" y="1490793"/>
            <a:ext cx="10241280" cy="4471545"/>
          </a:xfrm>
          <a:prstGeom prst="rect">
            <a:avLst/>
          </a:prstGeom>
        </p:spPr>
      </p:pic>
      <p:sp>
        <p:nvSpPr>
          <p:cNvPr id="6" name="TextBox 5"/>
          <p:cNvSpPr txBox="1"/>
          <p:nvPr/>
        </p:nvSpPr>
        <p:spPr>
          <a:xfrm>
            <a:off x="502920" y="6144768"/>
            <a:ext cx="11185855" cy="548640"/>
          </a:xfrm>
          <a:prstGeom prst="rect">
            <a:avLst/>
          </a:prstGeom>
          <a:noFill/>
        </p:spPr>
        <p:txBody>
          <a:bodyPr wrap="square">
            <a:spAutoFit/>
          </a:bodyPr>
          <a:lstStyle/>
          <a:p>
            <a:pPr algn="l">
              <a:lnSpc>
                <a:spcPct val="122000"/>
              </a:lnSpc>
              <a:spcAft>
                <a:spcPts val="700"/>
              </a:spcAft>
            </a:pPr>
            <a:r>
              <a:rPr sz="1200" b="0">
                <a:solidFill>
                  <a:srgbClr val="666C77"/>
                </a:solidFill>
                <a:latin typeface="Arial"/>
              </a:rPr>
              <a:t>Three regions, each doing one job: navigation on the rail, the map as the workspace, and the dossier where a lead opens into a full case file with its evidence. Live screens of this layout follow.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12191695" cy="704409"/>
          </a:xfrm>
          <a:prstGeom prst="rect">
            <a:avLst/>
          </a:prstGeom>
        </p:spPr>
      </p:pic>
      <p:pic>
        <p:nvPicPr>
          <p:cNvPr id="3" name="Picture 2" descr="footer.png"/>
          <p:cNvPicPr>
            <a:picLocks noChangeAspect="1"/>
          </p:cNvPicPr>
          <p:nvPr/>
        </p:nvPicPr>
        <p:blipFill>
          <a:blip r:embed="rId3"/>
          <a:stretch>
            <a:fillRect/>
          </a:stretch>
        </p:blipFill>
        <p:spPr>
          <a:xfrm>
            <a:off x="0" y="6708990"/>
            <a:ext cx="12191695" cy="149010"/>
          </a:xfrm>
          <a:prstGeom prst="rect">
            <a:avLst/>
          </a:prstGeom>
        </p:spPr>
      </p:pic>
      <p:sp>
        <p:nvSpPr>
          <p:cNvPr id="4" name="TextBox 3"/>
          <p:cNvSpPr txBox="1"/>
          <p:nvPr/>
        </p:nvSpPr>
        <p:spPr>
          <a:xfrm>
            <a:off x="384048" y="905577"/>
            <a:ext cx="11368735" cy="548640"/>
          </a:xfrm>
          <a:prstGeom prst="rect">
            <a:avLst/>
          </a:prstGeom>
          <a:noFill/>
        </p:spPr>
        <p:txBody>
          <a:bodyPr wrap="square">
            <a:spAutoFit/>
          </a:bodyPr>
          <a:lstStyle/>
          <a:p>
            <a:pPr algn="l"/>
            <a:r>
              <a:rPr sz="2600" b="1">
                <a:solidFill>
                  <a:srgbClr val="111111"/>
                </a:solidFill>
                <a:latin typeface="Arial"/>
              </a:rPr>
              <a:t>Architecture diagram of the proposed solution</a:t>
            </a:r>
          </a:p>
        </p:txBody>
      </p:sp>
      <p:pic>
        <p:nvPicPr>
          <p:cNvPr id="5" name="Picture 4" descr="dg_arch.png"/>
          <p:cNvPicPr>
            <a:picLocks noChangeAspect="1"/>
          </p:cNvPicPr>
          <p:nvPr/>
        </p:nvPicPr>
        <p:blipFill>
          <a:blip r:embed="rId4"/>
          <a:stretch>
            <a:fillRect/>
          </a:stretch>
        </p:blipFill>
        <p:spPr>
          <a:xfrm>
            <a:off x="1874519" y="1435929"/>
            <a:ext cx="9294090" cy="4315968"/>
          </a:xfrm>
          <a:prstGeom prst="rect">
            <a:avLst/>
          </a:prstGeom>
        </p:spPr>
      </p:pic>
      <p:sp>
        <p:nvSpPr>
          <p:cNvPr id="6" name="TextBox 5"/>
          <p:cNvSpPr txBox="1"/>
          <p:nvPr/>
        </p:nvSpPr>
        <p:spPr>
          <a:xfrm>
            <a:off x="502920" y="6108192"/>
            <a:ext cx="11185855" cy="548640"/>
          </a:xfrm>
          <a:prstGeom prst="rect">
            <a:avLst/>
          </a:prstGeom>
          <a:noFill/>
        </p:spPr>
        <p:txBody>
          <a:bodyPr wrap="square">
            <a:spAutoFit/>
          </a:bodyPr>
          <a:lstStyle/>
          <a:p>
            <a:pPr algn="l">
              <a:lnSpc>
                <a:spcPct val="122000"/>
              </a:lnSpc>
              <a:spcAft>
                <a:spcPts val="700"/>
              </a:spcAft>
            </a:pPr>
            <a:r>
              <a:rPr sz="1200" b="0">
                <a:solidFill>
                  <a:srgbClr val="666C77"/>
                </a:solidFill>
                <a:latin typeface="Arial"/>
              </a:rPr>
              <a:t>Access control sits at the gateway, so no request reaches case data before a role is resolved. The engine is the only component that touches the Data Store.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12191695" cy="704409"/>
          </a:xfrm>
          <a:prstGeom prst="rect">
            <a:avLst/>
          </a:prstGeom>
        </p:spPr>
      </p:pic>
      <p:pic>
        <p:nvPicPr>
          <p:cNvPr id="3" name="Picture 2" descr="footer.png"/>
          <p:cNvPicPr>
            <a:picLocks noChangeAspect="1"/>
          </p:cNvPicPr>
          <p:nvPr/>
        </p:nvPicPr>
        <p:blipFill>
          <a:blip r:embed="rId3"/>
          <a:stretch>
            <a:fillRect/>
          </a:stretch>
        </p:blipFill>
        <p:spPr>
          <a:xfrm>
            <a:off x="0" y="6708990"/>
            <a:ext cx="12191695" cy="149010"/>
          </a:xfrm>
          <a:prstGeom prst="rect">
            <a:avLst/>
          </a:prstGeom>
        </p:spPr>
      </p:pic>
      <p:sp>
        <p:nvSpPr>
          <p:cNvPr id="4" name="TextBox 3"/>
          <p:cNvSpPr txBox="1"/>
          <p:nvPr/>
        </p:nvSpPr>
        <p:spPr>
          <a:xfrm>
            <a:off x="384048" y="905577"/>
            <a:ext cx="11368735" cy="548640"/>
          </a:xfrm>
          <a:prstGeom prst="rect">
            <a:avLst/>
          </a:prstGeom>
          <a:noFill/>
        </p:spPr>
        <p:txBody>
          <a:bodyPr wrap="square">
            <a:spAutoFit/>
          </a:bodyPr>
          <a:lstStyle/>
          <a:p>
            <a:pPr algn="l"/>
            <a:r>
              <a:rPr sz="2600" b="1">
                <a:solidFill>
                  <a:srgbClr val="111111"/>
                </a:solidFill>
                <a:latin typeface="Arial"/>
              </a:rPr>
              <a:t>Technologies to be used in the solution</a:t>
            </a:r>
          </a:p>
        </p:txBody>
      </p:sp>
      <p:sp>
        <p:nvSpPr>
          <p:cNvPr id="5" name="TextBox 4"/>
          <p:cNvSpPr txBox="1"/>
          <p:nvPr/>
        </p:nvSpPr>
        <p:spPr>
          <a:xfrm>
            <a:off x="502920" y="1618809"/>
            <a:ext cx="2651760" cy="310896"/>
          </a:xfrm>
          <a:prstGeom prst="rect">
            <a:avLst/>
          </a:prstGeom>
          <a:noFill/>
        </p:spPr>
        <p:txBody>
          <a:bodyPr wrap="square">
            <a:spAutoFit/>
          </a:bodyPr>
          <a:lstStyle/>
          <a:p>
            <a:pPr algn="l"/>
            <a:r>
              <a:rPr sz="1300" b="1">
                <a:solidFill>
                  <a:srgbClr val="111111"/>
                </a:solidFill>
                <a:latin typeface="Arial"/>
              </a:rPr>
              <a:t>Frontend</a:t>
            </a:r>
          </a:p>
        </p:txBody>
      </p:sp>
      <p:sp>
        <p:nvSpPr>
          <p:cNvPr id="6" name="TextBox 5"/>
          <p:cNvSpPr txBox="1"/>
          <p:nvPr/>
        </p:nvSpPr>
        <p:spPr>
          <a:xfrm>
            <a:off x="3154680" y="1618809"/>
            <a:ext cx="8503920" cy="310896"/>
          </a:xfrm>
          <a:prstGeom prst="rect">
            <a:avLst/>
          </a:prstGeom>
          <a:noFill/>
        </p:spPr>
        <p:txBody>
          <a:bodyPr wrap="square">
            <a:spAutoFit/>
          </a:bodyPr>
          <a:lstStyle/>
          <a:p>
            <a:pPr algn="l"/>
            <a:r>
              <a:rPr sz="1300" b="0">
                <a:solidFill>
                  <a:srgbClr val="333840"/>
                </a:solidFill>
                <a:latin typeface="Arial"/>
              </a:rPr>
              <a:t>React 19, TypeScript, Three.js with React-Three-Fiber (WebGL 3D map)</a:t>
            </a:r>
          </a:p>
        </p:txBody>
      </p:sp>
      <p:sp>
        <p:nvSpPr>
          <p:cNvPr id="7" name="TextBox 6"/>
          <p:cNvSpPr txBox="1"/>
          <p:nvPr/>
        </p:nvSpPr>
        <p:spPr>
          <a:xfrm>
            <a:off x="502920" y="1947993"/>
            <a:ext cx="2651760" cy="310896"/>
          </a:xfrm>
          <a:prstGeom prst="rect">
            <a:avLst/>
          </a:prstGeom>
          <a:noFill/>
        </p:spPr>
        <p:txBody>
          <a:bodyPr wrap="square">
            <a:spAutoFit/>
          </a:bodyPr>
          <a:lstStyle/>
          <a:p>
            <a:pPr algn="l"/>
            <a:r>
              <a:rPr sz="1300" b="1">
                <a:solidFill>
                  <a:srgbClr val="111111"/>
                </a:solidFill>
                <a:latin typeface="Arial"/>
              </a:rPr>
              <a:t>Machine learning</a:t>
            </a:r>
          </a:p>
        </p:txBody>
      </p:sp>
      <p:sp>
        <p:nvSpPr>
          <p:cNvPr id="8" name="TextBox 7"/>
          <p:cNvSpPr txBox="1"/>
          <p:nvPr/>
        </p:nvSpPr>
        <p:spPr>
          <a:xfrm>
            <a:off x="3154680" y="1947993"/>
            <a:ext cx="8503920" cy="310896"/>
          </a:xfrm>
          <a:prstGeom prst="rect">
            <a:avLst/>
          </a:prstGeom>
          <a:noFill/>
        </p:spPr>
        <p:txBody>
          <a:bodyPr wrap="square">
            <a:spAutoFit/>
          </a:bodyPr>
          <a:lstStyle/>
          <a:p>
            <a:pPr algn="l"/>
            <a:r>
              <a:rPr sz="1300" b="0">
                <a:solidFill>
                  <a:srgbClr val="333840"/>
                </a:solidFill>
                <a:latin typeface="Arial"/>
              </a:rPr>
              <a:t>Python 3.13, scikit-learn (TF-IDF, AgglomerativeClustering), NumPy, SciPy, NetworkX</a:t>
            </a:r>
          </a:p>
        </p:txBody>
      </p:sp>
      <p:sp>
        <p:nvSpPr>
          <p:cNvPr id="9" name="TextBox 8"/>
          <p:cNvSpPr txBox="1"/>
          <p:nvPr/>
        </p:nvSpPr>
        <p:spPr>
          <a:xfrm>
            <a:off x="502920" y="2277177"/>
            <a:ext cx="2651760" cy="310896"/>
          </a:xfrm>
          <a:prstGeom prst="rect">
            <a:avLst/>
          </a:prstGeom>
          <a:noFill/>
        </p:spPr>
        <p:txBody>
          <a:bodyPr wrap="square">
            <a:spAutoFit/>
          </a:bodyPr>
          <a:lstStyle/>
          <a:p>
            <a:pPr algn="l"/>
            <a:r>
              <a:rPr sz="1300" b="1">
                <a:solidFill>
                  <a:srgbClr val="111111"/>
                </a:solidFill>
                <a:latin typeface="Arial"/>
              </a:rPr>
              <a:t>API layer</a:t>
            </a:r>
          </a:p>
        </p:txBody>
      </p:sp>
      <p:sp>
        <p:nvSpPr>
          <p:cNvPr id="10" name="TextBox 9"/>
          <p:cNvSpPr txBox="1"/>
          <p:nvPr/>
        </p:nvSpPr>
        <p:spPr>
          <a:xfrm>
            <a:off x="3154680" y="2277177"/>
            <a:ext cx="8503920" cy="310896"/>
          </a:xfrm>
          <a:prstGeom prst="rect">
            <a:avLst/>
          </a:prstGeom>
          <a:noFill/>
        </p:spPr>
        <p:txBody>
          <a:bodyPr wrap="square">
            <a:spAutoFit/>
          </a:bodyPr>
          <a:lstStyle/>
          <a:p>
            <a:pPr algn="l"/>
            <a:r>
              <a:rPr sz="1300" b="0">
                <a:solidFill>
                  <a:srgbClr val="333840"/>
                </a:solidFill>
                <a:latin typeface="Arial"/>
              </a:rPr>
              <a:t>Flask on AppSail; Catalyst Serverless Function (AdvancedIO) as the gateway</a:t>
            </a:r>
          </a:p>
        </p:txBody>
      </p:sp>
      <p:sp>
        <p:nvSpPr>
          <p:cNvPr id="11" name="TextBox 10"/>
          <p:cNvSpPr txBox="1"/>
          <p:nvPr/>
        </p:nvSpPr>
        <p:spPr>
          <a:xfrm>
            <a:off x="502920" y="2606361"/>
            <a:ext cx="2651760" cy="310896"/>
          </a:xfrm>
          <a:prstGeom prst="rect">
            <a:avLst/>
          </a:prstGeom>
          <a:noFill/>
        </p:spPr>
        <p:txBody>
          <a:bodyPr wrap="square">
            <a:spAutoFit/>
          </a:bodyPr>
          <a:lstStyle/>
          <a:p>
            <a:pPr algn="l"/>
            <a:r>
              <a:rPr sz="1300" b="1">
                <a:solidFill>
                  <a:srgbClr val="111111"/>
                </a:solidFill>
                <a:latin typeface="Arial"/>
              </a:rPr>
              <a:t>Document generation</a:t>
            </a:r>
          </a:p>
        </p:txBody>
      </p:sp>
      <p:sp>
        <p:nvSpPr>
          <p:cNvPr id="12" name="TextBox 11"/>
          <p:cNvSpPr txBox="1"/>
          <p:nvPr/>
        </p:nvSpPr>
        <p:spPr>
          <a:xfrm>
            <a:off x="3154680" y="2606361"/>
            <a:ext cx="8503920" cy="310896"/>
          </a:xfrm>
          <a:prstGeom prst="rect">
            <a:avLst/>
          </a:prstGeom>
          <a:noFill/>
        </p:spPr>
        <p:txBody>
          <a:bodyPr wrap="square">
            <a:spAutoFit/>
          </a:bodyPr>
          <a:lstStyle/>
          <a:p>
            <a:pPr algn="l"/>
            <a:r>
              <a:rPr sz="1300" b="0">
                <a:solidFill>
                  <a:srgbClr val="333840"/>
                </a:solidFill>
                <a:latin typeface="Arial"/>
              </a:rPr>
              <a:t>fpdf2 for the server-rendered case brief; SmartBrowz as the Catalyst-native renderer</a:t>
            </a:r>
          </a:p>
        </p:txBody>
      </p:sp>
      <p:sp>
        <p:nvSpPr>
          <p:cNvPr id="13" name="TextBox 12"/>
          <p:cNvSpPr txBox="1"/>
          <p:nvPr/>
        </p:nvSpPr>
        <p:spPr>
          <a:xfrm>
            <a:off x="502920" y="2935545"/>
            <a:ext cx="2651760" cy="310896"/>
          </a:xfrm>
          <a:prstGeom prst="rect">
            <a:avLst/>
          </a:prstGeom>
          <a:noFill/>
        </p:spPr>
        <p:txBody>
          <a:bodyPr wrap="square">
            <a:spAutoFit/>
          </a:bodyPr>
          <a:lstStyle/>
          <a:p>
            <a:pPr algn="l"/>
            <a:r>
              <a:rPr sz="1300" b="1">
                <a:solidFill>
                  <a:srgbClr val="111111"/>
                </a:solidFill>
                <a:latin typeface="Arial"/>
              </a:rPr>
              <a:t>Data</a:t>
            </a:r>
          </a:p>
        </p:txBody>
      </p:sp>
      <p:sp>
        <p:nvSpPr>
          <p:cNvPr id="14" name="TextBox 13"/>
          <p:cNvSpPr txBox="1"/>
          <p:nvPr/>
        </p:nvSpPr>
        <p:spPr>
          <a:xfrm>
            <a:off x="3154680" y="2935545"/>
            <a:ext cx="8503920" cy="310896"/>
          </a:xfrm>
          <a:prstGeom prst="rect">
            <a:avLst/>
          </a:prstGeom>
          <a:noFill/>
        </p:spPr>
        <p:txBody>
          <a:bodyPr wrap="square">
            <a:spAutoFit/>
          </a:bodyPr>
          <a:lstStyle/>
          <a:p>
            <a:pPr algn="l"/>
            <a:r>
              <a:rPr sz="1300" b="0">
                <a:solidFill>
                  <a:srgbClr val="333840"/>
                </a:solidFill>
                <a:latin typeface="Arial"/>
              </a:rPr>
              <a:t>Catalyst Data Store queried with ZCQL; schema-faithful CSV fallback</a:t>
            </a:r>
          </a:p>
        </p:txBody>
      </p:sp>
      <p:sp>
        <p:nvSpPr>
          <p:cNvPr id="15" name="TextBox 14"/>
          <p:cNvSpPr txBox="1"/>
          <p:nvPr/>
        </p:nvSpPr>
        <p:spPr>
          <a:xfrm>
            <a:off x="502920" y="3264729"/>
            <a:ext cx="2651760" cy="310896"/>
          </a:xfrm>
          <a:prstGeom prst="rect">
            <a:avLst/>
          </a:prstGeom>
          <a:noFill/>
        </p:spPr>
        <p:txBody>
          <a:bodyPr wrap="square">
            <a:spAutoFit/>
          </a:bodyPr>
          <a:lstStyle/>
          <a:p>
            <a:pPr algn="l"/>
            <a:r>
              <a:rPr sz="1300" b="1">
                <a:solidFill>
                  <a:srgbClr val="111111"/>
                </a:solidFill>
                <a:latin typeface="Arial"/>
              </a:rPr>
              <a:t>Geospatial</a:t>
            </a:r>
          </a:p>
        </p:txBody>
      </p:sp>
      <p:sp>
        <p:nvSpPr>
          <p:cNvPr id="16" name="TextBox 15"/>
          <p:cNvSpPr txBox="1"/>
          <p:nvPr/>
        </p:nvSpPr>
        <p:spPr>
          <a:xfrm>
            <a:off x="3154680" y="3264729"/>
            <a:ext cx="8503920" cy="310896"/>
          </a:xfrm>
          <a:prstGeom prst="rect">
            <a:avLst/>
          </a:prstGeom>
          <a:noFill/>
        </p:spPr>
        <p:txBody>
          <a:bodyPr wrap="square">
            <a:spAutoFit/>
          </a:bodyPr>
          <a:lstStyle/>
          <a:p>
            <a:pPr algn="l"/>
            <a:r>
              <a:rPr sz="1300" b="0">
                <a:solidFill>
                  <a:srgbClr val="333840"/>
                </a:solidFill>
                <a:latin typeface="Arial"/>
              </a:rPr>
              <a:t>Karnataka district boundary GeoJSON, Douglas-Peucker simplification, haversine distance</a:t>
            </a:r>
          </a:p>
        </p:txBody>
      </p:sp>
      <p:sp>
        <p:nvSpPr>
          <p:cNvPr id="17" name="TextBox 16"/>
          <p:cNvSpPr txBox="1"/>
          <p:nvPr/>
        </p:nvSpPr>
        <p:spPr>
          <a:xfrm>
            <a:off x="502920" y="3767649"/>
            <a:ext cx="11185855" cy="2651760"/>
          </a:xfrm>
          <a:prstGeom prst="rect">
            <a:avLst/>
          </a:prstGeom>
          <a:noFill/>
        </p:spPr>
        <p:txBody>
          <a:bodyPr wrap="square">
            <a:spAutoFit/>
          </a:bodyPr>
          <a:lstStyle/>
          <a:p>
            <a:pPr algn="l">
              <a:lnSpc>
                <a:spcPct val="122000"/>
              </a:lnSpc>
              <a:spcAft>
                <a:spcPts val="500"/>
              </a:spcAft>
            </a:pPr>
            <a:r>
              <a:rPr sz="1300" b="1">
                <a:solidFill>
                  <a:srgbClr val="A8231B"/>
                </a:solidFill>
                <a:latin typeface="Arial"/>
              </a:rPr>
              <a:t>Techniques</a:t>
            </a:r>
          </a:p>
          <a:p>
            <a:pPr algn="l">
              <a:lnSpc>
                <a:spcPct val="122000"/>
              </a:lnSpc>
              <a:spcAft>
                <a:spcPts val="900"/>
              </a:spcAft>
            </a:pPr>
            <a:r>
              <a:rPr sz="1250" b="0">
                <a:solidFill>
                  <a:srgbClr val="333840"/>
                </a:solidFill>
                <a:latin typeface="Arial"/>
              </a:rPr>
              <a:t>Behavioural fingerprinting · TF-IDF over complaint text · weighted composite similarity with per-pair renormalisation and an evidence-coverage discount · agglomerative clustering on a precomputed distance matrix · leave-one-signal-out ablation · hold-one-out forecast back-testing · permutation-based negative control · Douglas-Peucker simplification for the district meshes.</a:t>
            </a:r>
          </a:p>
          <a:p>
            <a:pPr algn="l">
              <a:lnSpc>
                <a:spcPct val="122000"/>
              </a:lnSpc>
              <a:spcAft>
                <a:spcPts val="500"/>
              </a:spcAft>
            </a:pPr>
            <a:r>
              <a:rPr sz="1300" b="1">
                <a:solidFill>
                  <a:srgbClr val="A8231B"/>
                </a:solidFill>
                <a:latin typeface="Arial"/>
              </a:rPr>
              <a:t>Design constraints we held to</a:t>
            </a:r>
          </a:p>
          <a:p>
            <a:pPr algn="l">
              <a:lnSpc>
                <a:spcPct val="122000"/>
              </a:lnSpc>
              <a:spcAft>
                <a:spcPts val="400"/>
              </a:spcAft>
            </a:pPr>
            <a:r>
              <a:rPr sz="1250" b="0">
                <a:solidFill>
                  <a:srgbClr val="333840"/>
                </a:solidFill>
                <a:latin typeface="Arial"/>
              </a:rPr>
              <a:t>• Clustering stays on </a:t>
            </a:r>
            <a:r>
              <a:rPr sz="1250" b="1">
                <a:solidFill>
                  <a:srgbClr val="333840"/>
                </a:solidFill>
                <a:latin typeface="Arial"/>
              </a:rPr>
              <a:t>scikit-learn primitives</a:t>
            </a:r>
            <a:r>
              <a:rPr sz="1250" b="0">
                <a:solidFill>
                  <a:srgbClr val="333840"/>
                </a:solidFill>
                <a:latin typeface="Arial"/>
              </a:rPr>
              <a:t>, so the engine installs from requirements.txt on the Catalyst managed runtime with </a:t>
            </a:r>
            <a:r>
              <a:rPr sz="1250" b="1">
                <a:solidFill>
                  <a:srgbClr val="333840"/>
                </a:solidFill>
                <a:latin typeface="Arial"/>
              </a:rPr>
              <a:t>no native compilation</a:t>
            </a:r>
            <a:r>
              <a:rPr sz="1250" b="0">
                <a:solidFill>
                  <a:srgbClr val="333840"/>
                </a:solidFill>
                <a:latin typeface="Arial"/>
              </a:rPr>
              <a:t>.</a:t>
            </a:r>
          </a:p>
          <a:p>
            <a:pPr algn="l">
              <a:lnSpc>
                <a:spcPct val="122000"/>
              </a:lnSpc>
              <a:spcAft>
                <a:spcPts val="400"/>
              </a:spcAft>
            </a:pPr>
            <a:r>
              <a:rPr sz="1250" b="1">
                <a:solidFill>
                  <a:srgbClr val="333840"/>
                </a:solidFill>
                <a:latin typeface="Arial"/>
              </a:rPr>
              <a:t>No external LLM API.</a:t>
            </a:r>
            <a:r>
              <a:rPr sz="1250" b="0">
                <a:solidFill>
                  <a:srgbClr val="333840"/>
                </a:solidFill>
                <a:latin typeface="Arial"/>
              </a:rPr>
              <a:t> Retrieval is deterministic, so no case data leaves the Catalyst environment and there is no per-query cost.</a:t>
            </a:r>
          </a:p>
          <a:p>
            <a:pPr algn="l">
              <a:lnSpc>
                <a:spcPct val="122000"/>
              </a:lnSpc>
              <a:spcAft>
                <a:spcPts val="700"/>
              </a:spcAft>
            </a:pPr>
            <a:r>
              <a:rPr sz="1250" b="1">
                <a:solidFill>
                  <a:srgbClr val="333840"/>
                </a:solidFill>
                <a:latin typeface="Arial"/>
              </a:rPr>
              <a:t>CPU only</a:t>
            </a:r>
            <a:r>
              <a:rPr sz="1250" b="0">
                <a:solidFill>
                  <a:srgbClr val="333840"/>
                </a:solidFill>
                <a:latin typeface="Arial"/>
              </a:rPr>
              <a:t> — no GPU anywhere in the pipeline.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12191695" cy="704409"/>
          </a:xfrm>
          <a:prstGeom prst="rect">
            <a:avLst/>
          </a:prstGeom>
        </p:spPr>
      </p:pic>
      <p:pic>
        <p:nvPicPr>
          <p:cNvPr id="3" name="Picture 2" descr="footer.png"/>
          <p:cNvPicPr>
            <a:picLocks noChangeAspect="1"/>
          </p:cNvPicPr>
          <p:nvPr/>
        </p:nvPicPr>
        <p:blipFill>
          <a:blip r:embed="rId3"/>
          <a:stretch>
            <a:fillRect/>
          </a:stretch>
        </p:blipFill>
        <p:spPr>
          <a:xfrm>
            <a:off x="0" y="6708990"/>
            <a:ext cx="12191695" cy="149010"/>
          </a:xfrm>
          <a:prstGeom prst="rect">
            <a:avLst/>
          </a:prstGeom>
        </p:spPr>
      </p:pic>
      <p:sp>
        <p:nvSpPr>
          <p:cNvPr id="4" name="TextBox 3"/>
          <p:cNvSpPr txBox="1"/>
          <p:nvPr/>
        </p:nvSpPr>
        <p:spPr>
          <a:xfrm>
            <a:off x="384048" y="905577"/>
            <a:ext cx="11368735" cy="548640"/>
          </a:xfrm>
          <a:prstGeom prst="rect">
            <a:avLst/>
          </a:prstGeom>
          <a:noFill/>
        </p:spPr>
        <p:txBody>
          <a:bodyPr wrap="square">
            <a:spAutoFit/>
          </a:bodyPr>
          <a:lstStyle/>
          <a:p>
            <a:pPr algn="l"/>
            <a:r>
              <a:rPr sz="2600" b="1">
                <a:solidFill>
                  <a:srgbClr val="111111"/>
                </a:solidFill>
                <a:latin typeface="Arial"/>
              </a:rPr>
              <a:t>Catalyst Services being used in the solution</a:t>
            </a:r>
          </a:p>
        </p:txBody>
      </p:sp>
      <p:sp>
        <p:nvSpPr>
          <p:cNvPr id="5" name="TextBox 4"/>
          <p:cNvSpPr txBox="1"/>
          <p:nvPr/>
        </p:nvSpPr>
        <p:spPr>
          <a:xfrm>
            <a:off x="502920" y="1573089"/>
            <a:ext cx="2926080" cy="310896"/>
          </a:xfrm>
          <a:prstGeom prst="rect">
            <a:avLst/>
          </a:prstGeom>
          <a:noFill/>
        </p:spPr>
        <p:txBody>
          <a:bodyPr wrap="square">
            <a:spAutoFit/>
          </a:bodyPr>
          <a:lstStyle/>
          <a:p>
            <a:pPr algn="l"/>
            <a:r>
              <a:rPr sz="1250" b="1">
                <a:solidFill>
                  <a:srgbClr val="111111"/>
                </a:solidFill>
                <a:latin typeface="Arial"/>
              </a:rPr>
              <a:t>AppSail</a:t>
            </a:r>
          </a:p>
        </p:txBody>
      </p:sp>
      <p:sp>
        <p:nvSpPr>
          <p:cNvPr id="6" name="TextBox 5"/>
          <p:cNvSpPr txBox="1"/>
          <p:nvPr/>
        </p:nvSpPr>
        <p:spPr>
          <a:xfrm>
            <a:off x="3429000" y="1573089"/>
            <a:ext cx="8229600" cy="310896"/>
          </a:xfrm>
          <a:prstGeom prst="rect">
            <a:avLst/>
          </a:prstGeom>
          <a:noFill/>
        </p:spPr>
        <p:txBody>
          <a:bodyPr wrap="square">
            <a:spAutoFit/>
          </a:bodyPr>
          <a:lstStyle/>
          <a:p>
            <a:pPr algn="l"/>
            <a:r>
              <a:rPr sz="1250" b="0">
                <a:solidFill>
                  <a:srgbClr val="333840"/>
                </a:solidFill>
                <a:latin typeface="Arial"/>
              </a:rPr>
              <a:t>Hosts the ML engine — fingerprinting, clustering, forecast, triage, robustness, PDF</a:t>
            </a:r>
          </a:p>
        </p:txBody>
      </p:sp>
      <p:sp>
        <p:nvSpPr>
          <p:cNvPr id="7" name="TextBox 6"/>
          <p:cNvSpPr txBox="1"/>
          <p:nvPr/>
        </p:nvSpPr>
        <p:spPr>
          <a:xfrm>
            <a:off x="502920" y="1902273"/>
            <a:ext cx="2926080" cy="310896"/>
          </a:xfrm>
          <a:prstGeom prst="rect">
            <a:avLst/>
          </a:prstGeom>
          <a:noFill/>
        </p:spPr>
        <p:txBody>
          <a:bodyPr wrap="square">
            <a:spAutoFit/>
          </a:bodyPr>
          <a:lstStyle/>
          <a:p>
            <a:pPr algn="l"/>
            <a:r>
              <a:rPr sz="1250" b="1">
                <a:solidFill>
                  <a:srgbClr val="111111"/>
                </a:solidFill>
                <a:latin typeface="Arial"/>
              </a:rPr>
              <a:t>Serverless Functions</a:t>
            </a:r>
          </a:p>
        </p:txBody>
      </p:sp>
      <p:sp>
        <p:nvSpPr>
          <p:cNvPr id="8" name="TextBox 7"/>
          <p:cNvSpPr txBox="1"/>
          <p:nvPr/>
        </p:nvSpPr>
        <p:spPr>
          <a:xfrm>
            <a:off x="3429000" y="1902273"/>
            <a:ext cx="8229600" cy="310896"/>
          </a:xfrm>
          <a:prstGeom prst="rect">
            <a:avLst/>
          </a:prstGeom>
          <a:noFill/>
        </p:spPr>
        <p:txBody>
          <a:bodyPr wrap="square">
            <a:spAutoFit/>
          </a:bodyPr>
          <a:lstStyle/>
          <a:p>
            <a:pPr algn="l"/>
            <a:r>
              <a:rPr sz="1250" b="0">
                <a:solidFill>
                  <a:srgbClr val="333840"/>
                </a:solidFill>
                <a:latin typeface="Arial"/>
              </a:rPr>
              <a:t>API gateway; enforces role-based access before any case data is read</a:t>
            </a:r>
          </a:p>
        </p:txBody>
      </p:sp>
      <p:sp>
        <p:nvSpPr>
          <p:cNvPr id="9" name="TextBox 8"/>
          <p:cNvSpPr txBox="1"/>
          <p:nvPr/>
        </p:nvSpPr>
        <p:spPr>
          <a:xfrm>
            <a:off x="502920" y="2231457"/>
            <a:ext cx="2926080" cy="310896"/>
          </a:xfrm>
          <a:prstGeom prst="rect">
            <a:avLst/>
          </a:prstGeom>
          <a:noFill/>
        </p:spPr>
        <p:txBody>
          <a:bodyPr wrap="square">
            <a:spAutoFit/>
          </a:bodyPr>
          <a:lstStyle/>
          <a:p>
            <a:pPr algn="l"/>
            <a:r>
              <a:rPr sz="1250" b="1">
                <a:solidFill>
                  <a:srgbClr val="111111"/>
                </a:solidFill>
                <a:latin typeface="Arial"/>
              </a:rPr>
              <a:t>Data Store</a:t>
            </a:r>
          </a:p>
        </p:txBody>
      </p:sp>
      <p:sp>
        <p:nvSpPr>
          <p:cNvPr id="10" name="TextBox 9"/>
          <p:cNvSpPr txBox="1"/>
          <p:nvPr/>
        </p:nvSpPr>
        <p:spPr>
          <a:xfrm>
            <a:off x="3429000" y="2231457"/>
            <a:ext cx="8229600" cy="310896"/>
          </a:xfrm>
          <a:prstGeom prst="rect">
            <a:avLst/>
          </a:prstGeom>
          <a:noFill/>
        </p:spPr>
        <p:txBody>
          <a:bodyPr wrap="square">
            <a:spAutoFit/>
          </a:bodyPr>
          <a:lstStyle/>
          <a:p>
            <a:pPr algn="l"/>
            <a:r>
              <a:rPr sz="1250" b="0">
                <a:solidFill>
                  <a:srgbClr val="333840"/>
                </a:solidFill>
                <a:latin typeface="Arial"/>
              </a:rPr>
              <a:t>The FIR schema — 28 tables, queried by ZCQL</a:t>
            </a:r>
          </a:p>
        </p:txBody>
      </p:sp>
      <p:sp>
        <p:nvSpPr>
          <p:cNvPr id="11" name="TextBox 10"/>
          <p:cNvSpPr txBox="1"/>
          <p:nvPr/>
        </p:nvSpPr>
        <p:spPr>
          <a:xfrm>
            <a:off x="502920" y="2560641"/>
            <a:ext cx="2926080" cy="310896"/>
          </a:xfrm>
          <a:prstGeom prst="rect">
            <a:avLst/>
          </a:prstGeom>
          <a:noFill/>
        </p:spPr>
        <p:txBody>
          <a:bodyPr wrap="square">
            <a:spAutoFit/>
          </a:bodyPr>
          <a:lstStyle/>
          <a:p>
            <a:pPr algn="l"/>
            <a:r>
              <a:rPr sz="1250" b="1">
                <a:solidFill>
                  <a:srgbClr val="111111"/>
                </a:solidFill>
                <a:latin typeface="Arial"/>
              </a:rPr>
              <a:t>Authentication</a:t>
            </a:r>
          </a:p>
        </p:txBody>
      </p:sp>
      <p:sp>
        <p:nvSpPr>
          <p:cNvPr id="12" name="TextBox 11"/>
          <p:cNvSpPr txBox="1"/>
          <p:nvPr/>
        </p:nvSpPr>
        <p:spPr>
          <a:xfrm>
            <a:off x="3429000" y="2560641"/>
            <a:ext cx="8229600" cy="310896"/>
          </a:xfrm>
          <a:prstGeom prst="rect">
            <a:avLst/>
          </a:prstGeom>
          <a:noFill/>
        </p:spPr>
        <p:txBody>
          <a:bodyPr wrap="square">
            <a:spAutoFit/>
          </a:bodyPr>
          <a:lstStyle/>
          <a:p>
            <a:pPr algn="l"/>
            <a:r>
              <a:rPr sz="1250" b="0">
                <a:solidFill>
                  <a:srgbClr val="333840"/>
                </a:solidFill>
                <a:latin typeface="Arial"/>
              </a:rPr>
              <a:t>Identity behind the investigator / analyst / supervisor roles</a:t>
            </a:r>
          </a:p>
        </p:txBody>
      </p:sp>
      <p:sp>
        <p:nvSpPr>
          <p:cNvPr id="13" name="TextBox 12"/>
          <p:cNvSpPr txBox="1"/>
          <p:nvPr/>
        </p:nvSpPr>
        <p:spPr>
          <a:xfrm>
            <a:off x="502920" y="2889825"/>
            <a:ext cx="2926080" cy="310896"/>
          </a:xfrm>
          <a:prstGeom prst="rect">
            <a:avLst/>
          </a:prstGeom>
          <a:noFill/>
        </p:spPr>
        <p:txBody>
          <a:bodyPr wrap="square">
            <a:spAutoFit/>
          </a:bodyPr>
          <a:lstStyle/>
          <a:p>
            <a:pPr algn="l"/>
            <a:r>
              <a:rPr sz="1250" b="1">
                <a:solidFill>
                  <a:srgbClr val="111111"/>
                </a:solidFill>
                <a:latin typeface="Arial"/>
              </a:rPr>
              <a:t>Cache</a:t>
            </a:r>
          </a:p>
        </p:txBody>
      </p:sp>
      <p:sp>
        <p:nvSpPr>
          <p:cNvPr id="14" name="TextBox 13"/>
          <p:cNvSpPr txBox="1"/>
          <p:nvPr/>
        </p:nvSpPr>
        <p:spPr>
          <a:xfrm>
            <a:off x="3429000" y="2889825"/>
            <a:ext cx="8229600" cy="310896"/>
          </a:xfrm>
          <a:prstGeom prst="rect">
            <a:avLst/>
          </a:prstGeom>
          <a:noFill/>
        </p:spPr>
        <p:txBody>
          <a:bodyPr wrap="square">
            <a:spAutoFit/>
          </a:bodyPr>
          <a:lstStyle/>
          <a:p>
            <a:pPr algn="l"/>
            <a:r>
              <a:rPr sz="1250" b="0">
                <a:solidFill>
                  <a:srgbClr val="333840"/>
                </a:solidFill>
                <a:latin typeface="Arial"/>
              </a:rPr>
              <a:t>Caches computed API responses across function instances</a:t>
            </a:r>
          </a:p>
        </p:txBody>
      </p:sp>
      <p:sp>
        <p:nvSpPr>
          <p:cNvPr id="15" name="TextBox 14"/>
          <p:cNvSpPr txBox="1"/>
          <p:nvPr/>
        </p:nvSpPr>
        <p:spPr>
          <a:xfrm>
            <a:off x="502920" y="3219009"/>
            <a:ext cx="2926080" cy="310896"/>
          </a:xfrm>
          <a:prstGeom prst="rect">
            <a:avLst/>
          </a:prstGeom>
          <a:noFill/>
        </p:spPr>
        <p:txBody>
          <a:bodyPr wrap="square">
            <a:spAutoFit/>
          </a:bodyPr>
          <a:lstStyle/>
          <a:p>
            <a:pPr algn="l"/>
            <a:r>
              <a:rPr sz="1250" b="1">
                <a:solidFill>
                  <a:srgbClr val="111111"/>
                </a:solidFill>
                <a:latin typeface="Arial"/>
              </a:rPr>
              <a:t>Job Scheduling</a:t>
            </a:r>
          </a:p>
        </p:txBody>
      </p:sp>
      <p:sp>
        <p:nvSpPr>
          <p:cNvPr id="16" name="TextBox 15"/>
          <p:cNvSpPr txBox="1"/>
          <p:nvPr/>
        </p:nvSpPr>
        <p:spPr>
          <a:xfrm>
            <a:off x="3429000" y="3219009"/>
            <a:ext cx="8229600" cy="310896"/>
          </a:xfrm>
          <a:prstGeom prst="rect">
            <a:avLst/>
          </a:prstGeom>
          <a:noFill/>
        </p:spPr>
        <p:txBody>
          <a:bodyPr wrap="square">
            <a:spAutoFit/>
          </a:bodyPr>
          <a:lstStyle/>
          <a:p>
            <a:pPr algn="l"/>
            <a:r>
              <a:rPr sz="1250" b="0">
                <a:solidFill>
                  <a:srgbClr val="333840"/>
                </a:solidFill>
                <a:latin typeface="Arial"/>
              </a:rPr>
              <a:t>Nightly re-cluster and cache flush — used instead of Cron, which is deprecated</a:t>
            </a:r>
          </a:p>
        </p:txBody>
      </p:sp>
      <p:sp>
        <p:nvSpPr>
          <p:cNvPr id="17" name="TextBox 16"/>
          <p:cNvSpPr txBox="1"/>
          <p:nvPr/>
        </p:nvSpPr>
        <p:spPr>
          <a:xfrm>
            <a:off x="502920" y="3548193"/>
            <a:ext cx="2926080" cy="310896"/>
          </a:xfrm>
          <a:prstGeom prst="rect">
            <a:avLst/>
          </a:prstGeom>
          <a:noFill/>
        </p:spPr>
        <p:txBody>
          <a:bodyPr wrap="square">
            <a:spAutoFit/>
          </a:bodyPr>
          <a:lstStyle/>
          <a:p>
            <a:pPr algn="l"/>
            <a:r>
              <a:rPr sz="1250" b="1">
                <a:solidFill>
                  <a:srgbClr val="111111"/>
                </a:solidFill>
                <a:latin typeface="Arial"/>
              </a:rPr>
              <a:t>Signals + Event Functions</a:t>
            </a:r>
          </a:p>
        </p:txBody>
      </p:sp>
      <p:sp>
        <p:nvSpPr>
          <p:cNvPr id="18" name="TextBox 17"/>
          <p:cNvSpPr txBox="1"/>
          <p:nvPr/>
        </p:nvSpPr>
        <p:spPr>
          <a:xfrm>
            <a:off x="3429000" y="3548193"/>
            <a:ext cx="8229600" cy="310896"/>
          </a:xfrm>
          <a:prstGeom prst="rect">
            <a:avLst/>
          </a:prstGeom>
          <a:noFill/>
        </p:spPr>
        <p:txBody>
          <a:bodyPr wrap="square">
            <a:spAutoFit/>
          </a:bodyPr>
          <a:lstStyle/>
          <a:p>
            <a:pPr algn="l"/>
            <a:r>
              <a:rPr sz="1250" b="0">
                <a:solidFill>
                  <a:srgbClr val="333840"/>
                </a:solidFill>
                <a:latin typeface="Arial"/>
              </a:rPr>
              <a:t>Auto-triages a newly registered FIR — instead of Event Listeners, also deprecated</a:t>
            </a:r>
          </a:p>
        </p:txBody>
      </p:sp>
      <p:sp>
        <p:nvSpPr>
          <p:cNvPr id="19" name="TextBox 18"/>
          <p:cNvSpPr txBox="1"/>
          <p:nvPr/>
        </p:nvSpPr>
        <p:spPr>
          <a:xfrm>
            <a:off x="502920" y="3877377"/>
            <a:ext cx="2926080" cy="310896"/>
          </a:xfrm>
          <a:prstGeom prst="rect">
            <a:avLst/>
          </a:prstGeom>
          <a:noFill/>
        </p:spPr>
        <p:txBody>
          <a:bodyPr wrap="square">
            <a:spAutoFit/>
          </a:bodyPr>
          <a:lstStyle/>
          <a:p>
            <a:pPr algn="l"/>
            <a:r>
              <a:rPr sz="1250" b="1">
                <a:solidFill>
                  <a:srgbClr val="111111"/>
                </a:solidFill>
                <a:latin typeface="Arial"/>
              </a:rPr>
              <a:t>SmartBrowz</a:t>
            </a:r>
          </a:p>
        </p:txBody>
      </p:sp>
      <p:sp>
        <p:nvSpPr>
          <p:cNvPr id="20" name="TextBox 19"/>
          <p:cNvSpPr txBox="1"/>
          <p:nvPr/>
        </p:nvSpPr>
        <p:spPr>
          <a:xfrm>
            <a:off x="3429000" y="3877377"/>
            <a:ext cx="8229600" cy="310896"/>
          </a:xfrm>
          <a:prstGeom prst="rect">
            <a:avLst/>
          </a:prstGeom>
          <a:noFill/>
        </p:spPr>
        <p:txBody>
          <a:bodyPr wrap="square">
            <a:spAutoFit/>
          </a:bodyPr>
          <a:lstStyle/>
          <a:p>
            <a:pPr algn="l"/>
            <a:r>
              <a:rPr sz="1250" b="0">
                <a:solidFill>
                  <a:srgbClr val="333840"/>
                </a:solidFill>
                <a:latin typeface="Arial"/>
              </a:rPr>
              <a:t>Renders the case-brief PDF</a:t>
            </a:r>
          </a:p>
        </p:txBody>
      </p:sp>
      <p:sp>
        <p:nvSpPr>
          <p:cNvPr id="21" name="TextBox 20"/>
          <p:cNvSpPr txBox="1"/>
          <p:nvPr/>
        </p:nvSpPr>
        <p:spPr>
          <a:xfrm>
            <a:off x="502920" y="4206561"/>
            <a:ext cx="2926080" cy="310896"/>
          </a:xfrm>
          <a:prstGeom prst="rect">
            <a:avLst/>
          </a:prstGeom>
          <a:noFill/>
        </p:spPr>
        <p:txBody>
          <a:bodyPr wrap="square">
            <a:spAutoFit/>
          </a:bodyPr>
          <a:lstStyle/>
          <a:p>
            <a:pPr algn="l"/>
            <a:r>
              <a:rPr sz="1250" b="1">
                <a:solidFill>
                  <a:srgbClr val="111111"/>
                </a:solidFill>
                <a:latin typeface="Arial"/>
              </a:rPr>
              <a:t>Web Client Hosting</a:t>
            </a:r>
          </a:p>
        </p:txBody>
      </p:sp>
      <p:sp>
        <p:nvSpPr>
          <p:cNvPr id="22" name="TextBox 21"/>
          <p:cNvSpPr txBox="1"/>
          <p:nvPr/>
        </p:nvSpPr>
        <p:spPr>
          <a:xfrm>
            <a:off x="3429000" y="4206561"/>
            <a:ext cx="8229600" cy="310896"/>
          </a:xfrm>
          <a:prstGeom prst="rect">
            <a:avLst/>
          </a:prstGeom>
          <a:noFill/>
        </p:spPr>
        <p:txBody>
          <a:bodyPr wrap="square">
            <a:spAutoFit/>
          </a:bodyPr>
          <a:lstStyle/>
          <a:p>
            <a:pPr algn="l"/>
            <a:r>
              <a:rPr sz="1250" b="0">
                <a:solidFill>
                  <a:srgbClr val="333840"/>
                </a:solidFill>
                <a:latin typeface="Arial"/>
              </a:rPr>
              <a:t>Serves the React application</a:t>
            </a:r>
          </a:p>
        </p:txBody>
      </p:sp>
      <p:sp>
        <p:nvSpPr>
          <p:cNvPr id="23" name="TextBox 22"/>
          <p:cNvSpPr txBox="1"/>
          <p:nvPr/>
        </p:nvSpPr>
        <p:spPr>
          <a:xfrm>
            <a:off x="502920" y="4773489"/>
            <a:ext cx="11185855" cy="1188720"/>
          </a:xfrm>
          <a:prstGeom prst="rect">
            <a:avLst/>
          </a:prstGeom>
          <a:noFill/>
        </p:spPr>
        <p:txBody>
          <a:bodyPr wrap="square">
            <a:spAutoFit/>
          </a:bodyPr>
          <a:lstStyle/>
          <a:p>
            <a:pPr algn="l">
              <a:lnSpc>
                <a:spcPct val="122000"/>
              </a:lnSpc>
              <a:spcAft>
                <a:spcPts val="500"/>
              </a:spcAft>
            </a:pPr>
            <a:r>
              <a:rPr sz="1250" b="0">
                <a:solidFill>
                  <a:srgbClr val="666C77"/>
                </a:solidFill>
                <a:latin typeface="Arial"/>
              </a:rPr>
              <a:t>We deliberately avoided the deprecated services: </a:t>
            </a:r>
            <a:r>
              <a:rPr sz="1250" b="1">
                <a:solidFill>
                  <a:srgbClr val="666C77"/>
                </a:solidFill>
                <a:latin typeface="Arial"/>
              </a:rPr>
              <a:t>Job Scheduling replaces Cron</a:t>
            </a:r>
            <a:r>
              <a:rPr sz="1250" b="0">
                <a:solidFill>
                  <a:srgbClr val="666C77"/>
                </a:solidFill>
                <a:latin typeface="Arial"/>
              </a:rPr>
              <a:t> and </a:t>
            </a:r>
            <a:r>
              <a:rPr sz="1250" b="1">
                <a:solidFill>
                  <a:srgbClr val="666C77"/>
                </a:solidFill>
                <a:latin typeface="Arial"/>
              </a:rPr>
              <a:t>Signals with Event Functions replaces Event Listeners</a:t>
            </a:r>
            <a:r>
              <a:rPr sz="1250" b="0">
                <a:solidFill>
                  <a:srgbClr val="666C77"/>
                </a:solidFill>
                <a:latin typeface="Arial"/>
              </a:rPr>
              <a:t>, both end-of-life 30 April 2026.</a:t>
            </a:r>
          </a:p>
          <a:p>
            <a:pPr algn="l">
              <a:lnSpc>
                <a:spcPct val="122000"/>
              </a:lnSpc>
              <a:spcAft>
                <a:spcPts val="700"/>
              </a:spcAft>
            </a:pPr>
            <a:r>
              <a:rPr sz="1250" b="1">
                <a:solidFill>
                  <a:srgbClr val="666C77"/>
                </a:solidFill>
                <a:latin typeface="Arial"/>
              </a:rPr>
              <a:t>Since the previous submission, four services moved from roadmap to shipped</a:t>
            </a:r>
            <a:r>
              <a:rPr sz="1250" b="0">
                <a:solidFill>
                  <a:srgbClr val="666C77"/>
                </a:solidFill>
                <a:latin typeface="Arial"/>
              </a:rPr>
              <a:t> — Authentication (role-based access control), Job Scheduling, Signals with Event Functions, and SmartBrowz. Data Store full-text search on BriefFacts activates when the tables are populated.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12191695" cy="704409"/>
          </a:xfrm>
          <a:prstGeom prst="rect">
            <a:avLst/>
          </a:prstGeom>
        </p:spPr>
      </p:pic>
      <p:pic>
        <p:nvPicPr>
          <p:cNvPr id="3" name="Picture 2" descr="footer.png"/>
          <p:cNvPicPr>
            <a:picLocks noChangeAspect="1"/>
          </p:cNvPicPr>
          <p:nvPr/>
        </p:nvPicPr>
        <p:blipFill>
          <a:blip r:embed="rId3"/>
          <a:stretch>
            <a:fillRect/>
          </a:stretch>
        </p:blipFill>
        <p:spPr>
          <a:xfrm>
            <a:off x="0" y="6708990"/>
            <a:ext cx="12191695" cy="149010"/>
          </a:xfrm>
          <a:prstGeom prst="rect">
            <a:avLst/>
          </a:prstGeom>
        </p:spPr>
      </p:pic>
      <p:sp>
        <p:nvSpPr>
          <p:cNvPr id="4" name="TextBox 3"/>
          <p:cNvSpPr txBox="1"/>
          <p:nvPr/>
        </p:nvSpPr>
        <p:spPr>
          <a:xfrm>
            <a:off x="384048" y="905577"/>
            <a:ext cx="11368735" cy="548640"/>
          </a:xfrm>
          <a:prstGeom prst="rect">
            <a:avLst/>
          </a:prstGeom>
          <a:noFill/>
        </p:spPr>
        <p:txBody>
          <a:bodyPr wrap="square">
            <a:spAutoFit/>
          </a:bodyPr>
          <a:lstStyle/>
          <a:p>
            <a:pPr algn="l"/>
            <a:r>
              <a:rPr sz="2600" b="1">
                <a:solidFill>
                  <a:srgbClr val="111111"/>
                </a:solidFill>
                <a:latin typeface="Arial"/>
              </a:rPr>
              <a:t>Estimated implementation cost</a:t>
            </a:r>
          </a:p>
        </p:txBody>
      </p:sp>
      <p:sp>
        <p:nvSpPr>
          <p:cNvPr id="5" name="TextBox 4"/>
          <p:cNvSpPr txBox="1"/>
          <p:nvPr/>
        </p:nvSpPr>
        <p:spPr>
          <a:xfrm>
            <a:off x="502920" y="1573089"/>
            <a:ext cx="11185855" cy="4873430"/>
          </a:xfrm>
          <a:prstGeom prst="rect">
            <a:avLst/>
          </a:prstGeom>
          <a:noFill/>
        </p:spPr>
        <p:txBody>
          <a:bodyPr wrap="square">
            <a:spAutoFit/>
          </a:bodyPr>
          <a:lstStyle/>
          <a:p>
            <a:pPr algn="l">
              <a:lnSpc>
                <a:spcPct val="122000"/>
              </a:lnSpc>
              <a:spcAft>
                <a:spcPts val="900"/>
              </a:spcAft>
            </a:pPr>
            <a:r>
              <a:rPr sz="1500" b="1">
                <a:solidFill>
                  <a:srgbClr val="111111"/>
                </a:solidFill>
                <a:latin typeface="Arial"/>
              </a:rPr>
              <a:t>No new infrastructure and no new data collection.</a:t>
            </a:r>
            <a:r>
              <a:rPr sz="1500" b="0">
                <a:solidFill>
                  <a:srgbClr val="111111"/>
                </a:solidFill>
                <a:latin typeface="Arial"/>
              </a:rPr>
              <a:t> Costs scale gradually with usage.</a:t>
            </a:r>
          </a:p>
          <a:p>
            <a:pPr algn="l">
              <a:lnSpc>
                <a:spcPct val="122000"/>
              </a:lnSpc>
              <a:spcAft>
                <a:spcPts val="400"/>
              </a:spcAft>
            </a:pPr>
            <a:r>
              <a:rPr sz="1300" b="1">
                <a:solidFill>
                  <a:srgbClr val="333840"/>
                </a:solidFill>
                <a:latin typeface="Arial"/>
              </a:rPr>
              <a:t>Pilot / demo stage</a:t>
            </a:r>
            <a:r>
              <a:rPr sz="1300" b="0">
                <a:solidFill>
                  <a:srgbClr val="333840"/>
                </a:solidFill>
                <a:latin typeface="Arial"/>
              </a:rPr>
              <a:t> — runs on the Catalyst Developer Tier at roughly ₹0, within the free tier.</a:t>
            </a:r>
          </a:p>
          <a:p>
            <a:pPr algn="l">
              <a:lnSpc>
                <a:spcPct val="122000"/>
              </a:lnSpc>
              <a:spcAft>
                <a:spcPts val="400"/>
              </a:spcAft>
            </a:pPr>
            <a:r>
              <a:rPr sz="1300" b="1">
                <a:solidFill>
                  <a:srgbClr val="333840"/>
                </a:solidFill>
                <a:latin typeface="Arial"/>
              </a:rPr>
              <a:t>District-level deployment</a:t>
            </a:r>
            <a:r>
              <a:rPr sz="1300" b="0">
                <a:solidFill>
                  <a:srgbClr val="333840"/>
                </a:solidFill>
                <a:latin typeface="Arial"/>
              </a:rPr>
              <a:t> (~10⁴–10⁵ FIRs) — AppSail, Serverless Functions and Data Store, in the </a:t>
            </a:r>
            <a:r>
              <a:rPr sz="1300" b="1">
                <a:solidFill>
                  <a:srgbClr val="333840"/>
                </a:solidFill>
                <a:latin typeface="Arial"/>
              </a:rPr>
              <a:t>low thousands of rupees per month</a:t>
            </a:r>
            <a:r>
              <a:rPr sz="1300" b="0">
                <a:solidFill>
                  <a:srgbClr val="333840"/>
                </a:solidFill>
                <a:latin typeface="Arial"/>
              </a:rPr>
              <a:t>.</a:t>
            </a:r>
          </a:p>
          <a:p>
            <a:pPr algn="l">
              <a:lnSpc>
                <a:spcPct val="122000"/>
              </a:lnSpc>
              <a:spcAft>
                <a:spcPts val="800"/>
              </a:spcAft>
            </a:pPr>
            <a:r>
              <a:rPr sz="1300" b="1">
                <a:solidFill>
                  <a:srgbClr val="333840"/>
                </a:solidFill>
                <a:latin typeface="Arial"/>
              </a:rPr>
              <a:t>State-wide</a:t>
            </a:r>
            <a:r>
              <a:rPr sz="1300" b="0">
                <a:solidFill>
                  <a:srgbClr val="333840"/>
                </a:solidFill>
                <a:latin typeface="Arial"/>
              </a:rPr>
              <a:t> (~10⁶ FIRs with nightly recomputation) — </a:t>
            </a:r>
            <a:r>
              <a:rPr sz="1300" b="1">
                <a:solidFill>
                  <a:srgbClr val="333840"/>
                </a:solidFill>
                <a:latin typeface="Arial"/>
              </a:rPr>
              <a:t>tens of thousands of rupees per month</a:t>
            </a:r>
            <a:r>
              <a:rPr sz="1300" b="0">
                <a:solidFill>
                  <a:srgbClr val="333840"/>
                </a:solidFill>
                <a:latin typeface="Arial"/>
              </a:rPr>
              <a:t>, driven mainly by AppSail and Data Store scaling.</a:t>
            </a:r>
          </a:p>
          <a:p>
            <a:pPr algn="l">
              <a:lnSpc>
                <a:spcPct val="122000"/>
              </a:lnSpc>
              <a:spcAft>
                <a:spcPts val="1000"/>
              </a:spcAft>
            </a:pPr>
            <a:r>
              <a:rPr sz="1300" b="0">
                <a:solidFill>
                  <a:srgbClr val="333840"/>
                </a:solidFill>
                <a:latin typeface="Arial"/>
              </a:rPr>
              <a:t>Costs stay low because the pipeline uses </a:t>
            </a:r>
            <a:r>
              <a:rPr sz="1300" b="1">
                <a:solidFill>
                  <a:srgbClr val="333840"/>
                </a:solidFill>
                <a:latin typeface="Arial"/>
              </a:rPr>
              <a:t>CPU-based scikit-learn models — no GPUs and no external LLM API calls</a:t>
            </a:r>
            <a:r>
              <a:rPr sz="1300" b="0">
                <a:solidFill>
                  <a:srgbClr val="333840"/>
                </a:solidFill>
                <a:latin typeface="Arial"/>
              </a:rPr>
              <a:t> — and linkage runs as a nightly batch rather than on every user query. Figures are estimates and vary with data volume and recomputation frequency.</a:t>
            </a:r>
          </a:p>
          <a:p>
            <a:pPr algn="l">
              <a:lnSpc>
                <a:spcPct val="122000"/>
              </a:lnSpc>
              <a:spcAft>
                <a:spcPts val="500"/>
              </a:spcAft>
            </a:pPr>
            <a:r>
              <a:rPr sz="1300" b="1">
                <a:solidFill>
                  <a:srgbClr val="A8231B"/>
                </a:solidFill>
                <a:latin typeface="Arial"/>
              </a:rPr>
              <a:t>What is not in the cost</a:t>
            </a:r>
          </a:p>
          <a:p>
            <a:pPr algn="l">
              <a:lnSpc>
                <a:spcPct val="122000"/>
              </a:lnSpc>
              <a:spcAft>
                <a:spcPts val="400"/>
              </a:spcAft>
            </a:pPr>
            <a:r>
              <a:rPr sz="1250" b="1">
                <a:solidFill>
                  <a:srgbClr val="333840"/>
                </a:solidFill>
                <a:latin typeface="Arial"/>
              </a:rPr>
              <a:t>No new data collection</a:t>
            </a:r>
            <a:r>
              <a:rPr sz="1250" b="0">
                <a:solidFill>
                  <a:srgbClr val="333840"/>
                </a:solidFill>
                <a:latin typeface="Arial"/>
              </a:rPr>
              <a:t> — it reads the FIR schema exactly as it exists.</a:t>
            </a:r>
          </a:p>
          <a:p>
            <a:pPr algn="l">
              <a:lnSpc>
                <a:spcPct val="122000"/>
              </a:lnSpc>
              <a:spcAft>
                <a:spcPts val="400"/>
              </a:spcAft>
            </a:pPr>
            <a:r>
              <a:rPr sz="1250" b="1">
                <a:solidFill>
                  <a:srgbClr val="333840"/>
                </a:solidFill>
                <a:latin typeface="Arial"/>
              </a:rPr>
              <a:t>No change to officer workflow</a:t>
            </a:r>
            <a:r>
              <a:rPr sz="1250" b="0">
                <a:solidFill>
                  <a:srgbClr val="333840"/>
                </a:solidFill>
                <a:latin typeface="Arial"/>
              </a:rPr>
              <a:t> — no additional field, form or step when filing an FIR.</a:t>
            </a:r>
          </a:p>
          <a:p>
            <a:pPr algn="l">
              <a:lnSpc>
                <a:spcPct val="122000"/>
              </a:lnSpc>
              <a:spcAft>
                <a:spcPts val="400"/>
              </a:spcAft>
            </a:pPr>
            <a:r>
              <a:rPr sz="1250" b="1">
                <a:solidFill>
                  <a:srgbClr val="333840"/>
                </a:solidFill>
                <a:latin typeface="Arial"/>
              </a:rPr>
              <a:t>No third-party licences</a:t>
            </a:r>
            <a:r>
              <a:rPr sz="1250" b="0">
                <a:solidFill>
                  <a:srgbClr val="333840"/>
                </a:solidFill>
                <a:latin typeface="Arial"/>
              </a:rPr>
              <a:t> — every component is open-source or a Catalyst service already in the KSP stack.</a:t>
            </a:r>
          </a:p>
          <a:p>
            <a:pPr algn="l">
              <a:lnSpc>
                <a:spcPct val="122000"/>
              </a:lnSpc>
              <a:spcAft>
                <a:spcPts val="700"/>
              </a:spcAft>
            </a:pPr>
            <a:r>
              <a:rPr sz="1250" b="1">
                <a:solidFill>
                  <a:srgbClr val="333840"/>
                </a:solidFill>
                <a:latin typeface="Arial"/>
              </a:rPr>
              <a:t>No GPU or inference hardware</a:t>
            </a:r>
            <a:r>
              <a:rPr sz="1250" b="0">
                <a:solidFill>
                  <a:srgbClr val="333840"/>
                </a:solidFill>
                <a:latin typeface="Arial"/>
              </a:rPr>
              <a:t>, and no per-query API spend that grows with usage.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12191695" cy="704409"/>
          </a:xfrm>
          <a:prstGeom prst="rect">
            <a:avLst/>
          </a:prstGeom>
        </p:spPr>
      </p:pic>
      <p:pic>
        <p:nvPicPr>
          <p:cNvPr id="3" name="Picture 2" descr="footer.png"/>
          <p:cNvPicPr>
            <a:picLocks noChangeAspect="1"/>
          </p:cNvPicPr>
          <p:nvPr/>
        </p:nvPicPr>
        <p:blipFill>
          <a:blip r:embed="rId3"/>
          <a:stretch>
            <a:fillRect/>
          </a:stretch>
        </p:blipFill>
        <p:spPr>
          <a:xfrm>
            <a:off x="0" y="6708990"/>
            <a:ext cx="12191695" cy="149010"/>
          </a:xfrm>
          <a:prstGeom prst="rect">
            <a:avLst/>
          </a:prstGeom>
        </p:spPr>
      </p:pic>
      <p:sp>
        <p:nvSpPr>
          <p:cNvPr id="4" name="TextBox 3"/>
          <p:cNvSpPr txBox="1"/>
          <p:nvPr/>
        </p:nvSpPr>
        <p:spPr>
          <a:xfrm>
            <a:off x="384048" y="905577"/>
            <a:ext cx="11368735" cy="548640"/>
          </a:xfrm>
          <a:prstGeom prst="rect">
            <a:avLst/>
          </a:prstGeom>
          <a:noFill/>
        </p:spPr>
        <p:txBody>
          <a:bodyPr wrap="square">
            <a:spAutoFit/>
          </a:bodyPr>
          <a:lstStyle/>
          <a:p>
            <a:pPr algn="l"/>
            <a:r>
              <a:rPr sz="2600" b="1">
                <a:solidFill>
                  <a:srgbClr val="111111"/>
                </a:solidFill>
                <a:latin typeface="Arial"/>
              </a:rPr>
              <a:t>Snapshots of the prototype</a:t>
            </a:r>
          </a:p>
        </p:txBody>
      </p:sp>
      <p:pic>
        <p:nvPicPr>
          <p:cNvPr id="5" name="Picture 4" descr="shot1.png"/>
          <p:cNvPicPr>
            <a:picLocks noChangeAspect="1"/>
          </p:cNvPicPr>
          <p:nvPr/>
        </p:nvPicPr>
        <p:blipFill>
          <a:blip r:embed="rId4"/>
          <a:stretch>
            <a:fillRect/>
          </a:stretch>
        </p:blipFill>
        <p:spPr>
          <a:xfrm>
            <a:off x="502920" y="1618809"/>
            <a:ext cx="5486400" cy="3429000"/>
          </a:xfrm>
          <a:prstGeom prst="rect">
            <a:avLst/>
          </a:prstGeom>
        </p:spPr>
      </p:pic>
      <p:sp>
        <p:nvSpPr>
          <p:cNvPr id="6" name="TextBox 5"/>
          <p:cNvSpPr txBox="1"/>
          <p:nvPr/>
        </p:nvSpPr>
        <p:spPr>
          <a:xfrm>
            <a:off x="502920" y="5148393"/>
            <a:ext cx="5486400" cy="457200"/>
          </a:xfrm>
          <a:prstGeom prst="rect">
            <a:avLst/>
          </a:prstGeom>
          <a:noFill/>
        </p:spPr>
        <p:txBody>
          <a:bodyPr wrap="square">
            <a:spAutoFit/>
          </a:bodyPr>
          <a:lstStyle/>
          <a:p>
            <a:pPr algn="l"/>
            <a:r>
              <a:rPr sz="1150">
                <a:solidFill>
                  <a:srgbClr val="666C77"/>
                </a:solidFill>
                <a:latin typeface="Arial"/>
              </a:rPr>
              <a:t>Statewide — 789 undetected cases, 16 linked groups, all cross-station</a:t>
            </a:r>
          </a:p>
        </p:txBody>
      </p:sp>
      <p:pic>
        <p:nvPicPr>
          <p:cNvPr id="7" name="Picture 6" descr="shot2.png"/>
          <p:cNvPicPr>
            <a:picLocks noChangeAspect="1"/>
          </p:cNvPicPr>
          <p:nvPr/>
        </p:nvPicPr>
        <p:blipFill>
          <a:blip r:embed="rId5"/>
          <a:stretch>
            <a:fillRect/>
          </a:stretch>
        </p:blipFill>
        <p:spPr>
          <a:xfrm>
            <a:off x="6217920" y="1618809"/>
            <a:ext cx="5486400" cy="3429000"/>
          </a:xfrm>
          <a:prstGeom prst="rect">
            <a:avLst/>
          </a:prstGeom>
        </p:spPr>
      </p:pic>
      <p:sp>
        <p:nvSpPr>
          <p:cNvPr id="8" name="TextBox 7"/>
          <p:cNvSpPr txBox="1"/>
          <p:nvPr/>
        </p:nvSpPr>
        <p:spPr>
          <a:xfrm>
            <a:off x="6217920" y="5148393"/>
            <a:ext cx="5486400" cy="457200"/>
          </a:xfrm>
          <a:prstGeom prst="rect">
            <a:avLst/>
          </a:prstGeom>
          <a:noFill/>
        </p:spPr>
        <p:txBody>
          <a:bodyPr wrap="square">
            <a:spAutoFit/>
          </a:bodyPr>
          <a:lstStyle/>
          <a:p>
            <a:pPr algn="l"/>
            <a:r>
              <a:rPr sz="1150">
                <a:solidFill>
                  <a:srgbClr val="666C77"/>
                </a:solidFill>
                <a:latin typeface="Arial"/>
              </a:rPr>
              <a:t>A linked group — evidence trail and the projection written in plain words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12191695" cy="704409"/>
          </a:xfrm>
          <a:prstGeom prst="rect">
            <a:avLst/>
          </a:prstGeom>
        </p:spPr>
      </p:pic>
      <p:pic>
        <p:nvPicPr>
          <p:cNvPr id="3" name="Picture 2" descr="footer.png"/>
          <p:cNvPicPr>
            <a:picLocks noChangeAspect="1"/>
          </p:cNvPicPr>
          <p:nvPr/>
        </p:nvPicPr>
        <p:blipFill>
          <a:blip r:embed="rId3"/>
          <a:stretch>
            <a:fillRect/>
          </a:stretch>
        </p:blipFill>
        <p:spPr>
          <a:xfrm>
            <a:off x="0" y="6708990"/>
            <a:ext cx="12191695" cy="149010"/>
          </a:xfrm>
          <a:prstGeom prst="rect">
            <a:avLst/>
          </a:prstGeom>
        </p:spPr>
      </p:pic>
      <p:sp>
        <p:nvSpPr>
          <p:cNvPr id="4" name="TextBox 3"/>
          <p:cNvSpPr txBox="1"/>
          <p:nvPr/>
        </p:nvSpPr>
        <p:spPr>
          <a:xfrm>
            <a:off x="384048" y="905577"/>
            <a:ext cx="11368735" cy="548640"/>
          </a:xfrm>
          <a:prstGeom prst="rect">
            <a:avLst/>
          </a:prstGeom>
          <a:noFill/>
        </p:spPr>
        <p:txBody>
          <a:bodyPr wrap="square">
            <a:spAutoFit/>
          </a:bodyPr>
          <a:lstStyle/>
          <a:p>
            <a:pPr algn="l"/>
            <a:r>
              <a:rPr sz="2600" b="1">
                <a:solidFill>
                  <a:srgbClr val="111111"/>
                </a:solidFill>
                <a:latin typeface="Arial"/>
              </a:rPr>
              <a:t>Snapshots of the prototype</a:t>
            </a:r>
          </a:p>
        </p:txBody>
      </p:sp>
      <p:pic>
        <p:nvPicPr>
          <p:cNvPr id="5" name="Picture 4" descr="shot3.png"/>
          <p:cNvPicPr>
            <a:picLocks noChangeAspect="1"/>
          </p:cNvPicPr>
          <p:nvPr/>
        </p:nvPicPr>
        <p:blipFill>
          <a:blip r:embed="rId4"/>
          <a:stretch>
            <a:fillRect/>
          </a:stretch>
        </p:blipFill>
        <p:spPr>
          <a:xfrm>
            <a:off x="502920" y="1618809"/>
            <a:ext cx="5486400" cy="3429000"/>
          </a:xfrm>
          <a:prstGeom prst="rect">
            <a:avLst/>
          </a:prstGeom>
        </p:spPr>
      </p:pic>
      <p:sp>
        <p:nvSpPr>
          <p:cNvPr id="6" name="TextBox 5"/>
          <p:cNvSpPr txBox="1"/>
          <p:nvPr/>
        </p:nvSpPr>
        <p:spPr>
          <a:xfrm>
            <a:off x="502920" y="5148393"/>
            <a:ext cx="5486400" cy="457200"/>
          </a:xfrm>
          <a:prstGeom prst="rect">
            <a:avLst/>
          </a:prstGeom>
          <a:noFill/>
        </p:spPr>
        <p:txBody>
          <a:bodyPr wrap="square">
            <a:spAutoFit/>
          </a:bodyPr>
          <a:lstStyle/>
          <a:p>
            <a:pPr algn="l"/>
            <a:r>
              <a:rPr sz="1150">
                <a:solidFill>
                  <a:srgbClr val="666C77"/>
                </a:solidFill>
                <a:latin typeface="Arial"/>
              </a:rPr>
              <a:t>Forecast — all 16 projections ranked, open windows first</a:t>
            </a:r>
          </a:p>
        </p:txBody>
      </p:sp>
      <p:pic>
        <p:nvPicPr>
          <p:cNvPr id="7" name="Picture 6" descr="shot6.png"/>
          <p:cNvPicPr>
            <a:picLocks noChangeAspect="1"/>
          </p:cNvPicPr>
          <p:nvPr/>
        </p:nvPicPr>
        <p:blipFill>
          <a:blip r:embed="rId5"/>
          <a:stretch>
            <a:fillRect/>
          </a:stretch>
        </p:blipFill>
        <p:spPr>
          <a:xfrm>
            <a:off x="6217920" y="1618809"/>
            <a:ext cx="5486400" cy="3429000"/>
          </a:xfrm>
          <a:prstGeom prst="rect">
            <a:avLst/>
          </a:prstGeom>
        </p:spPr>
      </p:pic>
      <p:sp>
        <p:nvSpPr>
          <p:cNvPr id="8" name="TextBox 7"/>
          <p:cNvSpPr txBox="1"/>
          <p:nvPr/>
        </p:nvSpPr>
        <p:spPr>
          <a:xfrm>
            <a:off x="6217920" y="5148393"/>
            <a:ext cx="5486400" cy="457200"/>
          </a:xfrm>
          <a:prstGeom prst="rect">
            <a:avLst/>
          </a:prstGeom>
          <a:noFill/>
        </p:spPr>
        <p:txBody>
          <a:bodyPr wrap="square">
            <a:spAutoFit/>
          </a:bodyPr>
          <a:lstStyle/>
          <a:p>
            <a:pPr algn="l"/>
            <a:r>
              <a:rPr sz="1150">
                <a:solidFill>
                  <a:srgbClr val="666C77"/>
                </a:solidFill>
                <a:latin typeface="Arial"/>
              </a:rPr>
              <a:t>One person's whole crime history drawn on the map in date order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12191695" cy="704409"/>
          </a:xfrm>
          <a:prstGeom prst="rect">
            <a:avLst/>
          </a:prstGeom>
        </p:spPr>
      </p:pic>
      <p:pic>
        <p:nvPicPr>
          <p:cNvPr id="3" name="Picture 2" descr="footer.png"/>
          <p:cNvPicPr>
            <a:picLocks noChangeAspect="1"/>
          </p:cNvPicPr>
          <p:nvPr/>
        </p:nvPicPr>
        <p:blipFill>
          <a:blip r:embed="rId3"/>
          <a:stretch>
            <a:fillRect/>
          </a:stretch>
        </p:blipFill>
        <p:spPr>
          <a:xfrm>
            <a:off x="0" y="6708990"/>
            <a:ext cx="12191695" cy="149010"/>
          </a:xfrm>
          <a:prstGeom prst="rect">
            <a:avLst/>
          </a:prstGeom>
        </p:spPr>
      </p:pic>
      <p:sp>
        <p:nvSpPr>
          <p:cNvPr id="4" name="TextBox 3"/>
          <p:cNvSpPr txBox="1"/>
          <p:nvPr/>
        </p:nvSpPr>
        <p:spPr>
          <a:xfrm>
            <a:off x="384048" y="905577"/>
            <a:ext cx="11368735" cy="548640"/>
          </a:xfrm>
          <a:prstGeom prst="rect">
            <a:avLst/>
          </a:prstGeom>
          <a:noFill/>
        </p:spPr>
        <p:txBody>
          <a:bodyPr wrap="square">
            <a:spAutoFit/>
          </a:bodyPr>
          <a:lstStyle/>
          <a:p>
            <a:pPr algn="l"/>
            <a:r>
              <a:rPr sz="2600" b="1">
                <a:solidFill>
                  <a:srgbClr val="111111"/>
                </a:solidFill>
                <a:latin typeface="Arial"/>
              </a:rPr>
              <a:t>Snapshots of the prototype</a:t>
            </a:r>
          </a:p>
        </p:txBody>
      </p:sp>
      <p:pic>
        <p:nvPicPr>
          <p:cNvPr id="5" name="Picture 4" descr="shot4.png"/>
          <p:cNvPicPr>
            <a:picLocks noChangeAspect="1"/>
          </p:cNvPicPr>
          <p:nvPr/>
        </p:nvPicPr>
        <p:blipFill>
          <a:blip r:embed="rId4"/>
          <a:stretch>
            <a:fillRect/>
          </a:stretch>
        </p:blipFill>
        <p:spPr>
          <a:xfrm>
            <a:off x="502920" y="1618809"/>
            <a:ext cx="5486400" cy="3429000"/>
          </a:xfrm>
          <a:prstGeom prst="rect">
            <a:avLst/>
          </a:prstGeom>
        </p:spPr>
      </p:pic>
      <p:sp>
        <p:nvSpPr>
          <p:cNvPr id="6" name="TextBox 5"/>
          <p:cNvSpPr txBox="1"/>
          <p:nvPr/>
        </p:nvSpPr>
        <p:spPr>
          <a:xfrm>
            <a:off x="502920" y="5148393"/>
            <a:ext cx="5486400" cy="457200"/>
          </a:xfrm>
          <a:prstGeom prst="rect">
            <a:avLst/>
          </a:prstGeom>
          <a:noFill/>
        </p:spPr>
        <p:txBody>
          <a:bodyPr wrap="square">
            <a:spAutoFit/>
          </a:bodyPr>
          <a:lstStyle/>
          <a:p>
            <a:pPr algn="l"/>
            <a:r>
              <a:rPr sz="1150">
                <a:solidFill>
                  <a:srgbClr val="666C77"/>
                </a:solidFill>
                <a:latin typeface="Arial"/>
              </a:rPr>
              <a:t>Association network — 25 people linked by shared modus operandi</a:t>
            </a:r>
          </a:p>
        </p:txBody>
      </p:sp>
      <p:pic>
        <p:nvPicPr>
          <p:cNvPr id="7" name="Picture 6" descr="shot5.png"/>
          <p:cNvPicPr>
            <a:picLocks noChangeAspect="1"/>
          </p:cNvPicPr>
          <p:nvPr/>
        </p:nvPicPr>
        <p:blipFill>
          <a:blip r:embed="rId5"/>
          <a:stretch>
            <a:fillRect/>
          </a:stretch>
        </p:blipFill>
        <p:spPr>
          <a:xfrm>
            <a:off x="6217920" y="1618809"/>
            <a:ext cx="5486400" cy="3429000"/>
          </a:xfrm>
          <a:prstGeom prst="rect">
            <a:avLst/>
          </a:prstGeom>
        </p:spPr>
      </p:pic>
      <p:sp>
        <p:nvSpPr>
          <p:cNvPr id="8" name="TextBox 7"/>
          <p:cNvSpPr txBox="1"/>
          <p:nvPr/>
        </p:nvSpPr>
        <p:spPr>
          <a:xfrm>
            <a:off x="6217920" y="5148393"/>
            <a:ext cx="5486400" cy="457200"/>
          </a:xfrm>
          <a:prstGeom prst="rect">
            <a:avLst/>
          </a:prstGeom>
          <a:noFill/>
        </p:spPr>
        <p:txBody>
          <a:bodyPr wrap="square">
            <a:spAutoFit/>
          </a:bodyPr>
          <a:lstStyle/>
          <a:p>
            <a:pPr algn="l"/>
            <a:r>
              <a:rPr sz="1150">
                <a:solidFill>
                  <a:srgbClr val="666C77"/>
                </a:solidFill>
                <a:latin typeface="Arial"/>
              </a:rPr>
              <a:t>Measured accuracy, ablation, and the robustness checks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12191695" cy="704409"/>
          </a:xfrm>
          <a:prstGeom prst="rect">
            <a:avLst/>
          </a:prstGeom>
        </p:spPr>
      </p:pic>
      <p:pic>
        <p:nvPicPr>
          <p:cNvPr id="3" name="Picture 2" descr="footer.png"/>
          <p:cNvPicPr>
            <a:picLocks noChangeAspect="1"/>
          </p:cNvPicPr>
          <p:nvPr/>
        </p:nvPicPr>
        <p:blipFill>
          <a:blip r:embed="rId3"/>
          <a:stretch>
            <a:fillRect/>
          </a:stretch>
        </p:blipFill>
        <p:spPr>
          <a:xfrm>
            <a:off x="0" y="6708990"/>
            <a:ext cx="12191695" cy="149010"/>
          </a:xfrm>
          <a:prstGeom prst="rect">
            <a:avLst/>
          </a:prstGeom>
        </p:spPr>
      </p:pic>
      <p:sp>
        <p:nvSpPr>
          <p:cNvPr id="4" name="TextBox 3"/>
          <p:cNvSpPr txBox="1"/>
          <p:nvPr/>
        </p:nvSpPr>
        <p:spPr>
          <a:xfrm>
            <a:off x="384048" y="905577"/>
            <a:ext cx="11368735" cy="548640"/>
          </a:xfrm>
          <a:prstGeom prst="rect">
            <a:avLst/>
          </a:prstGeom>
          <a:noFill/>
        </p:spPr>
        <p:txBody>
          <a:bodyPr wrap="square">
            <a:spAutoFit/>
          </a:bodyPr>
          <a:lstStyle/>
          <a:p>
            <a:pPr algn="l"/>
            <a:r>
              <a:rPr sz="2600" b="1">
                <a:solidFill>
                  <a:srgbClr val="111111"/>
                </a:solidFill>
                <a:latin typeface="Arial"/>
              </a:rPr>
              <a:t>Prototype Performance report / Benchmarking</a:t>
            </a:r>
          </a:p>
        </p:txBody>
      </p:sp>
      <p:sp>
        <p:nvSpPr>
          <p:cNvPr id="5" name="TextBox 4"/>
          <p:cNvSpPr txBox="1"/>
          <p:nvPr/>
        </p:nvSpPr>
        <p:spPr>
          <a:xfrm>
            <a:off x="502920" y="1573089"/>
            <a:ext cx="11185855" cy="4873430"/>
          </a:xfrm>
          <a:prstGeom prst="rect">
            <a:avLst/>
          </a:prstGeom>
          <a:noFill/>
        </p:spPr>
        <p:txBody>
          <a:bodyPr wrap="square">
            <a:spAutoFit/>
          </a:bodyPr>
          <a:lstStyle/>
          <a:p>
            <a:pPr algn="l">
              <a:lnSpc>
                <a:spcPct val="122000"/>
              </a:lnSpc>
              <a:spcAft>
                <a:spcPts val="500"/>
              </a:spcAft>
            </a:pPr>
            <a:r>
              <a:rPr sz="1300" b="1">
                <a:solidFill>
                  <a:srgbClr val="A8231B"/>
                </a:solidFill>
                <a:latin typeface="Arial"/>
              </a:rPr>
              <a:t>Linkage accuracy — pairwise over every pair of undetected cases against planted ground truth</a:t>
            </a:r>
          </a:p>
          <a:p>
            <a:pPr algn="l">
              <a:lnSpc>
                <a:spcPct val="122000"/>
              </a:lnSpc>
              <a:spcAft>
                <a:spcPts val="1300"/>
              </a:spcAft>
            </a:pPr>
            <a:r>
              <a:rPr sz="1300" b="1">
                <a:solidFill>
                  <a:srgbClr val="111111"/>
                </a:solidFill>
                <a:latin typeface="Arial"/>
              </a:rPr>
              <a:t>Precision 0.928   ·   Recall 0.965   ·   F1 0.946   ·   13 of 13 planted groups recovered.</a:t>
            </a:r>
            <a:r>
              <a:rPr sz="1300" b="0">
                <a:solidFill>
                  <a:srgbClr val="111111"/>
                </a:solidFill>
                <a:latin typeface="Arial"/>
              </a:rPr>
              <a:t>   Reproducible offline in one command: python appsail-python/run_local.py</a:t>
            </a:r>
          </a:p>
          <a:p>
            <a:pPr algn="l">
              <a:lnSpc>
                <a:spcPct val="122000"/>
              </a:lnSpc>
              <a:spcAft>
                <a:spcPts val="500"/>
              </a:spcAft>
            </a:pPr>
            <a:r>
              <a:rPr sz="1300" b="1">
                <a:solidFill>
                  <a:srgbClr val="A8231B"/>
                </a:solidFill>
                <a:latin typeface="Arial"/>
              </a:rPr>
              <a:t>Does it invent groups?  —  the negative control</a:t>
            </a:r>
          </a:p>
          <a:p>
            <a:pPr algn="l">
              <a:lnSpc>
                <a:spcPct val="122000"/>
              </a:lnSpc>
              <a:spcAft>
                <a:spcPts val="600"/>
              </a:spcAft>
            </a:pPr>
            <a:r>
              <a:rPr sz="1300" b="0">
                <a:solidFill>
                  <a:srgbClr val="333840"/>
                </a:solidFill>
                <a:latin typeface="Arial"/>
              </a:rPr>
              <a:t>Every behavioural field is shuffled independently, so all the same texts, times, places and crime types remain in the same proportions and only the link between a case and its own behaviour is destroyed. No offender pattern can survive.</a:t>
            </a:r>
          </a:p>
          <a:p>
            <a:pPr algn="l">
              <a:lnSpc>
                <a:spcPct val="122000"/>
              </a:lnSpc>
              <a:spcAft>
                <a:spcPts val="1300"/>
              </a:spcAft>
            </a:pPr>
            <a:r>
              <a:rPr sz="1300" b="1">
                <a:solidFill>
                  <a:srgbClr val="111111"/>
                </a:solidFill>
                <a:latin typeface="Arial"/>
              </a:rPr>
              <a:t>16 groups on the real data.   0, 0 and 0 across three scrambled runs.</a:t>
            </a:r>
            <a:r>
              <a:rPr sz="1300" b="0">
                <a:solidFill>
                  <a:srgbClr val="111111"/>
                </a:solidFill>
                <a:latin typeface="Arial"/>
              </a:rPr>
              <a:t>   The engine reports nothing when there is nothing to find — which is what makes the accuracy figures above worth reading.</a:t>
            </a:r>
          </a:p>
          <a:p>
            <a:pPr algn="l">
              <a:lnSpc>
                <a:spcPct val="122000"/>
              </a:lnSpc>
              <a:spcAft>
                <a:spcPts val="500"/>
              </a:spcAft>
            </a:pPr>
            <a:r>
              <a:rPr sz="1300" b="1">
                <a:solidFill>
                  <a:srgbClr val="A8231B"/>
                </a:solidFill>
                <a:latin typeface="Arial"/>
              </a:rPr>
              <a:t>What happens when the free-text description is missing?</a:t>
            </a:r>
          </a:p>
          <a:p>
            <a:pPr algn="l">
              <a:lnSpc>
                <a:spcPct val="122000"/>
              </a:lnSpc>
              <a:spcAft>
                <a:spcPts val="600"/>
              </a:spcAft>
            </a:pPr>
            <a:r>
              <a:rPr sz="1300" b="0">
                <a:solidFill>
                  <a:srgbClr val="333840"/>
                </a:solidFill>
                <a:latin typeface="Arial"/>
              </a:rPr>
              <a:t>Full text → </a:t>
            </a:r>
            <a:r>
              <a:rPr sz="1300" b="1">
                <a:solidFill>
                  <a:srgbClr val="333840"/>
                </a:solidFill>
                <a:latin typeface="Arial"/>
              </a:rPr>
              <a:t>16 groups, P 0.928, 13/13 recovered</a:t>
            </a:r>
            <a:r>
              <a:rPr sz="1300" b="0">
                <a:solidFill>
                  <a:srgbClr val="333840"/>
                </a:solidFill>
                <a:latin typeface="Arial"/>
              </a:rPr>
              <a:t>.     50% blank → 15 groups, P 0.778, 10/13.     100% blank → 14 groups, P 0.630, 7/13.</a:t>
            </a:r>
          </a:p>
          <a:p>
            <a:pPr algn="l">
              <a:lnSpc>
                <a:spcPct val="122000"/>
              </a:lnSpc>
              <a:spcAft>
                <a:spcPts val="700"/>
              </a:spcAft>
            </a:pPr>
            <a:r>
              <a:rPr sz="1300" b="0">
                <a:solidFill>
                  <a:srgbClr val="333840"/>
                </a:solidFill>
                <a:latin typeface="Arial"/>
              </a:rPr>
              <a:t>Fewer groups with lower recall is the intended behaviour: on thin evidence the engine should get more cautious, not louder. Without the evidence-coverage discount this returned </a:t>
            </a:r>
            <a:r>
              <a:rPr sz="1300" b="1">
                <a:solidFill>
                  <a:srgbClr val="333840"/>
                </a:solidFill>
                <a:latin typeface="Arial"/>
              </a:rPr>
              <a:t>53 groups at precision 0.375</a:t>
            </a:r>
            <a:r>
              <a:rPr sz="1300" b="0">
                <a:solidFill>
                  <a:srgbClr val="333840"/>
                </a:solidFill>
                <a:latin typeface="Arial"/>
              </a:rPr>
              <a:t> — a flood of false leads.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12191695" cy="704409"/>
          </a:xfrm>
          <a:prstGeom prst="rect">
            <a:avLst/>
          </a:prstGeom>
        </p:spPr>
      </p:pic>
      <p:pic>
        <p:nvPicPr>
          <p:cNvPr id="3" name="Picture 2" descr="footer.png"/>
          <p:cNvPicPr>
            <a:picLocks noChangeAspect="1"/>
          </p:cNvPicPr>
          <p:nvPr/>
        </p:nvPicPr>
        <p:blipFill>
          <a:blip r:embed="rId3"/>
          <a:stretch>
            <a:fillRect/>
          </a:stretch>
        </p:blipFill>
        <p:spPr>
          <a:xfrm>
            <a:off x="0" y="6708990"/>
            <a:ext cx="12191695" cy="149010"/>
          </a:xfrm>
          <a:prstGeom prst="rect">
            <a:avLst/>
          </a:prstGeom>
        </p:spPr>
      </p:pic>
      <p:sp>
        <p:nvSpPr>
          <p:cNvPr id="4" name="TextBox 3"/>
          <p:cNvSpPr txBox="1"/>
          <p:nvPr/>
        </p:nvSpPr>
        <p:spPr>
          <a:xfrm>
            <a:off x="384048" y="905577"/>
            <a:ext cx="11368735" cy="548640"/>
          </a:xfrm>
          <a:prstGeom prst="rect">
            <a:avLst/>
          </a:prstGeom>
          <a:noFill/>
        </p:spPr>
        <p:txBody>
          <a:bodyPr wrap="square">
            <a:spAutoFit/>
          </a:bodyPr>
          <a:lstStyle/>
          <a:p>
            <a:pPr algn="l"/>
            <a:r>
              <a:rPr sz="2600" b="1">
                <a:solidFill>
                  <a:srgbClr val="111111"/>
                </a:solidFill>
                <a:latin typeface="Arial"/>
              </a:rPr>
              <a:t>Performance report / Benchmarking (continued)</a:t>
            </a:r>
          </a:p>
        </p:txBody>
      </p:sp>
      <p:sp>
        <p:nvSpPr>
          <p:cNvPr id="5" name="TextBox 4"/>
          <p:cNvSpPr txBox="1"/>
          <p:nvPr/>
        </p:nvSpPr>
        <p:spPr>
          <a:xfrm>
            <a:off x="502920" y="1573089"/>
            <a:ext cx="11185855" cy="4873430"/>
          </a:xfrm>
          <a:prstGeom prst="rect">
            <a:avLst/>
          </a:prstGeom>
          <a:noFill/>
        </p:spPr>
        <p:txBody>
          <a:bodyPr wrap="square">
            <a:spAutoFit/>
          </a:bodyPr>
          <a:lstStyle/>
          <a:p>
            <a:pPr algn="l">
              <a:lnSpc>
                <a:spcPct val="122000"/>
              </a:lnSpc>
              <a:spcAft>
                <a:spcPts val="500"/>
              </a:spcAft>
            </a:pPr>
            <a:r>
              <a:rPr sz="1300" b="1">
                <a:solidFill>
                  <a:srgbClr val="A8231B"/>
                </a:solidFill>
                <a:latin typeface="Arial"/>
              </a:rPr>
              <a:t>What each signal is worth — leave-one-out ablation</a:t>
            </a:r>
          </a:p>
          <a:p>
            <a:pPr algn="l">
              <a:lnSpc>
                <a:spcPct val="122000"/>
              </a:lnSpc>
              <a:spcAft>
                <a:spcPts val="600"/>
              </a:spcAft>
            </a:pPr>
            <a:r>
              <a:rPr sz="1300" b="0">
                <a:solidFill>
                  <a:srgbClr val="333840"/>
                </a:solidFill>
                <a:latin typeface="Arial"/>
              </a:rPr>
              <a:t>Each signal's weight is set to zero and the whole pipeline re-run; the drop in F1 is what that signal is worth.</a:t>
            </a:r>
          </a:p>
          <a:p>
            <a:pPr algn="l">
              <a:lnSpc>
                <a:spcPct val="122000"/>
              </a:lnSpc>
              <a:spcAft>
                <a:spcPts val="1300"/>
              </a:spcAft>
            </a:pPr>
            <a:r>
              <a:rPr sz="1300" b="0">
                <a:solidFill>
                  <a:srgbClr val="333840"/>
                </a:solidFill>
                <a:latin typeface="Arial"/>
              </a:rPr>
              <a:t>Location removed → F1 falls 0.946 to </a:t>
            </a:r>
            <a:r>
              <a:rPr sz="1300" b="1">
                <a:solidFill>
                  <a:srgbClr val="333840"/>
                </a:solidFill>
                <a:latin typeface="Arial"/>
              </a:rPr>
              <a:t>0.363</a:t>
            </a:r>
            <a:r>
              <a:rPr sz="1300" b="0">
                <a:solidFill>
                  <a:srgbClr val="333840"/>
                </a:solidFill>
                <a:latin typeface="Arial"/>
              </a:rPr>
              <a:t>.     Method, the MO text → </a:t>
            </a:r>
            <a:r>
              <a:rPr sz="1300" b="1">
                <a:solidFill>
                  <a:srgbClr val="333840"/>
                </a:solidFill>
                <a:latin typeface="Arial"/>
              </a:rPr>
              <a:t>0.438</a:t>
            </a:r>
            <a:r>
              <a:rPr sz="1300" b="0">
                <a:solidFill>
                  <a:srgbClr val="333840"/>
                </a:solidFill>
                <a:latin typeface="Arial"/>
              </a:rPr>
              <a:t>.     Crime type → </a:t>
            </a:r>
            <a:r>
              <a:rPr sz="1300" b="1">
                <a:solidFill>
                  <a:srgbClr val="333840"/>
                </a:solidFill>
                <a:latin typeface="Arial"/>
              </a:rPr>
              <a:t>0.737</a:t>
            </a:r>
            <a:r>
              <a:rPr sz="1300" b="0">
                <a:solidFill>
                  <a:srgbClr val="333840"/>
                </a:solidFill>
                <a:latin typeface="Arial"/>
              </a:rPr>
              <a:t>.     Who was targeted → </a:t>
            </a:r>
            <a:r>
              <a:rPr sz="1300" b="1">
                <a:solidFill>
                  <a:srgbClr val="333840"/>
                </a:solidFill>
                <a:latin typeface="Arial"/>
              </a:rPr>
              <a:t>0.780</a:t>
            </a:r>
            <a:r>
              <a:rPr sz="1300" b="0">
                <a:solidFill>
                  <a:srgbClr val="333840"/>
                </a:solidFill>
                <a:latin typeface="Arial"/>
              </a:rPr>
              <a:t>.</a:t>
            </a:r>
          </a:p>
          <a:p>
            <a:pPr algn="l">
              <a:lnSpc>
                <a:spcPct val="122000"/>
              </a:lnSpc>
              <a:spcAft>
                <a:spcPts val="500"/>
              </a:spcAft>
            </a:pPr>
            <a:r>
              <a:rPr sz="1300" b="1">
                <a:solidFill>
                  <a:srgbClr val="A8231B"/>
                </a:solidFill>
                <a:latin typeface="Arial"/>
              </a:rPr>
              <a:t>The identity experiment</a:t>
            </a:r>
          </a:p>
          <a:p>
            <a:pPr algn="l">
              <a:lnSpc>
                <a:spcPct val="122000"/>
              </a:lnSpc>
              <a:spcAft>
                <a:spcPts val="600"/>
              </a:spcAft>
            </a:pPr>
            <a:r>
              <a:rPr sz="1300" b="0">
                <a:solidFill>
                  <a:srgbClr val="333840"/>
                </a:solidFill>
                <a:latin typeface="Arial"/>
              </a:rPr>
              <a:t>Accused name at 8% weight → P 0.916 / R 0.819 / F1 0.865.     </a:t>
            </a:r>
            <a:r>
              <a:rPr sz="1300" b="1">
                <a:solidFill>
                  <a:srgbClr val="333840"/>
                </a:solidFill>
                <a:latin typeface="Arial"/>
              </a:rPr>
              <a:t>At zero weight, as shipped → P 0.928 / R 0.965 / F1 0.946.</a:t>
            </a:r>
          </a:p>
          <a:p>
            <a:pPr algn="l">
              <a:lnSpc>
                <a:spcPct val="122000"/>
              </a:lnSpc>
              <a:spcAft>
                <a:spcPts val="1300"/>
              </a:spcAft>
            </a:pPr>
            <a:r>
              <a:rPr sz="1300" b="0">
                <a:solidFill>
                  <a:srgbClr val="333840"/>
                </a:solidFill>
                <a:latin typeface="Arial"/>
              </a:rPr>
              <a:t>Coincidental name collisions pulled unrelated cases into real groups. Identity now carries no weight in linkage at all; a recurring name is shown to the investigator as unconfirmed corroboration only.</a:t>
            </a:r>
          </a:p>
          <a:p>
            <a:pPr algn="l">
              <a:lnSpc>
                <a:spcPct val="122000"/>
              </a:lnSpc>
              <a:spcAft>
                <a:spcPts val="500"/>
              </a:spcAft>
            </a:pPr>
            <a:r>
              <a:rPr sz="1300" b="1">
                <a:solidFill>
                  <a:srgbClr val="A8231B"/>
                </a:solidFill>
                <a:latin typeface="Arial"/>
              </a:rPr>
              <a:t>Forecast, back-tested</a:t>
            </a:r>
          </a:p>
          <a:p>
            <a:pPr algn="l">
              <a:lnSpc>
                <a:spcPct val="122000"/>
              </a:lnSpc>
              <a:spcAft>
                <a:spcPts val="1300"/>
              </a:spcAft>
            </a:pPr>
            <a:r>
              <a:rPr sz="1300" b="0">
                <a:solidFill>
                  <a:srgbClr val="333840"/>
                </a:solidFill>
                <a:latin typeface="Arial"/>
              </a:rPr>
              <a:t>Each group's last offence was held out and a projection built from the earlier events only, then checked against what actually happened: </a:t>
            </a:r>
            <a:r>
              <a:rPr sz="1300" b="1">
                <a:solidFill>
                  <a:srgbClr val="333840"/>
                </a:solidFill>
                <a:latin typeface="Arial"/>
              </a:rPr>
              <a:t>area hit rate 92.9%</a:t>
            </a:r>
            <a:r>
              <a:rPr sz="1300" b="0">
                <a:solidFill>
                  <a:srgbClr val="333840"/>
                </a:solidFill>
                <a:latin typeface="Arial"/>
              </a:rPr>
              <a:t>, window hit rate 50.0%, median timing error 7.7 days, across 14 groups. The area holds up far better than the timing — which is why the ring on the map is the actionable part of the projection, not the date.</a:t>
            </a:r>
          </a:p>
          <a:p>
            <a:pPr algn="l">
              <a:lnSpc>
                <a:spcPct val="122000"/>
              </a:lnSpc>
              <a:spcAft>
                <a:spcPts val="500"/>
              </a:spcAft>
            </a:pPr>
            <a:r>
              <a:rPr sz="1300" b="1">
                <a:solidFill>
                  <a:srgbClr val="A8231B"/>
                </a:solidFill>
                <a:latin typeface="Arial"/>
              </a:rPr>
              <a:t>Schema conformance and the data these figures come from</a:t>
            </a:r>
          </a:p>
          <a:p>
            <a:pPr algn="l">
              <a:lnSpc>
                <a:spcPct val="122000"/>
              </a:lnSpc>
              <a:spcAft>
                <a:spcPts val="700"/>
              </a:spcAft>
            </a:pPr>
            <a:r>
              <a:rPr sz="1300" b="1">
                <a:solidFill>
                  <a:srgbClr val="333840"/>
                </a:solidFill>
                <a:latin typeface="Arial"/>
              </a:rPr>
              <a:t>28 of 28 ER tables implemented, all foreign keys resolve.</a:t>
            </a:r>
            <a:r>
              <a:rPr sz="1300" b="0">
                <a:solidFill>
                  <a:srgbClr val="333840"/>
                </a:solidFill>
                <a:latin typeface="Arial"/>
              </a:rPr>
              <a:t>   The KSP dataset was not released, so these figures are measured on schema-faithful synthetic data with planted offender groups. Real FIR data swaps in through the same tables and pipeline unchanged, and the accuracy panel re-measures itself against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12191695" cy="704409"/>
          </a:xfrm>
          <a:prstGeom prst="rect">
            <a:avLst/>
          </a:prstGeom>
        </p:spPr>
      </p:pic>
      <p:pic>
        <p:nvPicPr>
          <p:cNvPr id="3" name="Picture 2" descr="footer.png"/>
          <p:cNvPicPr>
            <a:picLocks noChangeAspect="1"/>
          </p:cNvPicPr>
          <p:nvPr/>
        </p:nvPicPr>
        <p:blipFill>
          <a:blip r:embed="rId3"/>
          <a:stretch>
            <a:fillRect/>
          </a:stretch>
        </p:blipFill>
        <p:spPr>
          <a:xfrm>
            <a:off x="0" y="6708990"/>
            <a:ext cx="12191695" cy="149010"/>
          </a:xfrm>
          <a:prstGeom prst="rect">
            <a:avLst/>
          </a:prstGeom>
        </p:spPr>
      </p:pic>
      <p:sp>
        <p:nvSpPr>
          <p:cNvPr id="4" name="TextBox 3"/>
          <p:cNvSpPr txBox="1"/>
          <p:nvPr/>
        </p:nvSpPr>
        <p:spPr>
          <a:xfrm>
            <a:off x="384048" y="905577"/>
            <a:ext cx="11368735" cy="548640"/>
          </a:xfrm>
          <a:prstGeom prst="rect">
            <a:avLst/>
          </a:prstGeom>
          <a:noFill/>
        </p:spPr>
        <p:txBody>
          <a:bodyPr wrap="square">
            <a:spAutoFit/>
          </a:bodyPr>
          <a:lstStyle/>
          <a:p>
            <a:pPr algn="l"/>
            <a:r>
              <a:rPr sz="2600" b="1">
                <a:solidFill>
                  <a:srgbClr val="111111"/>
                </a:solidFill>
                <a:latin typeface="Arial"/>
              </a:rPr>
              <a:t>Provide links to your:</a:t>
            </a:r>
          </a:p>
        </p:txBody>
      </p:sp>
      <p:sp>
        <p:nvSpPr>
          <p:cNvPr id="5" name="TextBox 4"/>
          <p:cNvSpPr txBox="1"/>
          <p:nvPr/>
        </p:nvSpPr>
        <p:spPr>
          <a:xfrm>
            <a:off x="502920" y="1573089"/>
            <a:ext cx="11185855" cy="4873430"/>
          </a:xfrm>
          <a:prstGeom prst="rect">
            <a:avLst/>
          </a:prstGeom>
          <a:noFill/>
        </p:spPr>
        <p:txBody>
          <a:bodyPr wrap="square">
            <a:spAutoFit/>
          </a:bodyPr>
          <a:lstStyle/>
          <a:p>
            <a:pPr algn="l">
              <a:lnSpc>
                <a:spcPct val="122000"/>
              </a:lnSpc>
              <a:spcAft>
                <a:spcPts val="300"/>
              </a:spcAft>
            </a:pPr>
            <a:r>
              <a:rPr sz="1500" b="1">
                <a:solidFill>
                  <a:srgbClr val="111111"/>
                </a:solidFill>
                <a:latin typeface="Arial"/>
              </a:rPr>
              <a:t>1.   GitHub Public Repository</a:t>
            </a:r>
          </a:p>
          <a:p>
            <a:pPr algn="l">
              <a:lnSpc>
                <a:spcPct val="122000"/>
              </a:lnSpc>
              <a:spcAft>
                <a:spcPts val="1200"/>
              </a:spcAft>
            </a:pPr>
            <a:r>
              <a:rPr sz="1400" b="0">
                <a:solidFill>
                  <a:srgbClr val="333840"/>
                </a:solidFill>
                <a:latin typeface="Arial"/>
              </a:rPr>
              <a:t>https://github.com/whysush/drishti-crimelink</a:t>
            </a:r>
          </a:p>
          <a:p>
            <a:pPr algn="l">
              <a:lnSpc>
                <a:spcPct val="122000"/>
              </a:lnSpc>
              <a:spcAft>
                <a:spcPts val="300"/>
              </a:spcAft>
            </a:pPr>
            <a:r>
              <a:rPr sz="1500" b="1">
                <a:solidFill>
                  <a:srgbClr val="111111"/>
                </a:solidFill>
                <a:latin typeface="Arial"/>
              </a:rPr>
              <a:t>2.   Demo Video Link (3 minutes)</a:t>
            </a:r>
          </a:p>
          <a:p>
            <a:pPr algn="l">
              <a:lnSpc>
                <a:spcPct val="122000"/>
              </a:lnSpc>
              <a:spcAft>
                <a:spcPts val="1200"/>
              </a:spcAft>
            </a:pPr>
            <a:r>
              <a:rPr sz="1300" b="0">
                <a:solidFill>
                  <a:srgbClr val="333840"/>
                </a:solidFill>
                <a:latin typeface="Arial"/>
              </a:rPr>
              <a:t>https://drive.google.com/file/d/1EJFTYKawu_4t-UEj-A0NRav7H7KGvQNz/view?usp=sharing</a:t>
            </a:r>
          </a:p>
          <a:p>
            <a:pPr algn="l">
              <a:lnSpc>
                <a:spcPct val="122000"/>
              </a:lnSpc>
              <a:spcAft>
                <a:spcPts val="300"/>
              </a:spcAft>
            </a:pPr>
            <a:r>
              <a:rPr sz="1500" b="1">
                <a:solidFill>
                  <a:srgbClr val="111111"/>
                </a:solidFill>
                <a:latin typeface="Arial"/>
              </a:rPr>
              <a:t>3.   Deployed Link</a:t>
            </a:r>
          </a:p>
          <a:p>
            <a:pPr algn="l">
              <a:lnSpc>
                <a:spcPct val="122000"/>
              </a:lnSpc>
              <a:spcAft>
                <a:spcPts val="1400"/>
              </a:spcAft>
            </a:pPr>
            <a:r>
              <a:rPr sz="1400" b="0">
                <a:solidFill>
                  <a:srgbClr val="333840"/>
                </a:solidFill>
                <a:latin typeface="Arial"/>
              </a:rPr>
              <a:t>https://crimelink-927199644.development.catalystserverless.com/app/index.html</a:t>
            </a:r>
          </a:p>
          <a:p>
            <a:pPr algn="l">
              <a:lnSpc>
                <a:spcPct val="122000"/>
              </a:lnSpc>
              <a:spcAft>
                <a:spcPts val="500"/>
              </a:spcAft>
            </a:pPr>
            <a:r>
              <a:rPr sz="1300" b="1">
                <a:solidFill>
                  <a:srgbClr val="A8231B"/>
                </a:solidFill>
                <a:latin typeface="Arial"/>
              </a:rPr>
              <a:t>What is in each</a:t>
            </a:r>
          </a:p>
          <a:p>
            <a:pPr algn="l">
              <a:lnSpc>
                <a:spcPct val="122000"/>
              </a:lnSpc>
              <a:spcAft>
                <a:spcPts val="400"/>
              </a:spcAft>
            </a:pPr>
            <a:r>
              <a:rPr sz="1250" b="1">
                <a:solidFill>
                  <a:srgbClr val="333840"/>
                </a:solidFill>
                <a:latin typeface="Arial"/>
              </a:rPr>
              <a:t>Repository</a:t>
            </a:r>
            <a:r>
              <a:rPr sz="1250" b="0">
                <a:solidFill>
                  <a:srgbClr val="333840"/>
                </a:solidFill>
                <a:latin typeface="Arial"/>
              </a:rPr>
              <a:t> — the full linkage engine, forecast, triage, person resolution and robustness checks; the API gateway with its access-control layer; the job and event functions; the React client; and the synthetic data generator with its ground truth, so every figure on the previous slide can be reproduced.</a:t>
            </a:r>
          </a:p>
          <a:p>
            <a:pPr algn="l">
              <a:lnSpc>
                <a:spcPct val="122000"/>
              </a:lnSpc>
              <a:spcAft>
                <a:spcPts val="400"/>
              </a:spcAft>
            </a:pPr>
            <a:r>
              <a:rPr sz="1250" b="1">
                <a:solidFill>
                  <a:srgbClr val="333840"/>
                </a:solidFill>
                <a:latin typeface="Arial"/>
              </a:rPr>
              <a:t>Deployed link</a:t>
            </a:r>
            <a:r>
              <a:rPr sz="1250" b="0">
                <a:solidFill>
                  <a:srgbClr val="333840"/>
                </a:solidFill>
                <a:latin typeface="Arial"/>
              </a:rPr>
              <a:t> — open it a minute or two before viewing. The engine idles between uses and the status bar reads ENGINE LIVE once warm.</a:t>
            </a:r>
          </a:p>
          <a:p>
            <a:pPr algn="l">
              <a:lnSpc>
                <a:spcPct val="122000"/>
              </a:lnSpc>
              <a:spcAft>
                <a:spcPts val="700"/>
              </a:spcAft>
            </a:pPr>
            <a:r>
              <a:rPr sz="1250" b="1">
                <a:solidFill>
                  <a:srgbClr val="333840"/>
                </a:solidFill>
                <a:latin typeface="Arial"/>
              </a:rPr>
              <a:t>Deep links worth trying</a:t>
            </a:r>
            <a:r>
              <a:rPr sz="1250" b="0">
                <a:solidFill>
                  <a:srgbClr val="333840"/>
                </a:solidFill>
                <a:latin typeface="Arial"/>
              </a:rPr>
              <a:t> — ?tab=model (accuracy and robustness), ?tab=forecast (all projections), ?tab=network (the association graph), ?role=investigator&amp;district=577 (access control), ?lang=kn (Kannada).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12191695" cy="704409"/>
          </a:xfrm>
          <a:prstGeom prst="rect">
            <a:avLst/>
          </a:prstGeom>
        </p:spPr>
      </p:pic>
      <p:pic>
        <p:nvPicPr>
          <p:cNvPr id="3" name="Picture 2" descr="footer.png"/>
          <p:cNvPicPr>
            <a:picLocks noChangeAspect="1"/>
          </p:cNvPicPr>
          <p:nvPr/>
        </p:nvPicPr>
        <p:blipFill>
          <a:blip r:embed="rId3"/>
          <a:stretch>
            <a:fillRect/>
          </a:stretch>
        </p:blipFill>
        <p:spPr>
          <a:xfrm>
            <a:off x="0" y="6708990"/>
            <a:ext cx="12191695" cy="149010"/>
          </a:xfrm>
          <a:prstGeom prst="rect">
            <a:avLst/>
          </a:prstGeom>
        </p:spPr>
      </p:pic>
      <p:sp>
        <p:nvSpPr>
          <p:cNvPr id="4" name="TextBox 3"/>
          <p:cNvSpPr txBox="1"/>
          <p:nvPr/>
        </p:nvSpPr>
        <p:spPr>
          <a:xfrm>
            <a:off x="384048" y="905577"/>
            <a:ext cx="11368735" cy="548640"/>
          </a:xfrm>
          <a:prstGeom prst="rect">
            <a:avLst/>
          </a:prstGeom>
          <a:noFill/>
        </p:spPr>
        <p:txBody>
          <a:bodyPr wrap="square">
            <a:spAutoFit/>
          </a:bodyPr>
          <a:lstStyle/>
          <a:p>
            <a:pPr algn="l"/>
            <a:r>
              <a:rPr sz="2600" b="1">
                <a:solidFill>
                  <a:srgbClr val="111111"/>
                </a:solidFill>
                <a:latin typeface="Arial"/>
              </a:rPr>
              <a:t>Additional Details / Future Development</a:t>
            </a:r>
          </a:p>
        </p:txBody>
      </p:sp>
      <p:sp>
        <p:nvSpPr>
          <p:cNvPr id="5" name="TextBox 4"/>
          <p:cNvSpPr txBox="1"/>
          <p:nvPr/>
        </p:nvSpPr>
        <p:spPr>
          <a:xfrm>
            <a:off x="502920" y="1573089"/>
            <a:ext cx="11185855" cy="4873430"/>
          </a:xfrm>
          <a:prstGeom prst="rect">
            <a:avLst/>
          </a:prstGeom>
          <a:noFill/>
        </p:spPr>
        <p:txBody>
          <a:bodyPr wrap="square">
            <a:spAutoFit/>
          </a:bodyPr>
          <a:lstStyle/>
          <a:p>
            <a:pPr algn="l">
              <a:lnSpc>
                <a:spcPct val="122000"/>
              </a:lnSpc>
              <a:spcAft>
                <a:spcPts val="600"/>
              </a:spcAft>
            </a:pPr>
            <a:r>
              <a:rPr sz="1300" b="1">
                <a:solidFill>
                  <a:srgbClr val="333840"/>
                </a:solidFill>
                <a:latin typeface="Arial"/>
              </a:rPr>
              <a:t>Go live on real FIR data.</a:t>
            </a:r>
            <a:r>
              <a:rPr sz="1300" b="0">
                <a:solidFill>
                  <a:srgbClr val="333840"/>
                </a:solidFill>
                <a:latin typeface="Arial"/>
              </a:rPr>
              <a:t> The Data Store schema and loader are built and the engine already has a Data Store backend; populating the 28 tables switches the source with no code change, and enables full-text search on BriefFacts.</a:t>
            </a:r>
          </a:p>
          <a:p>
            <a:pPr algn="l">
              <a:lnSpc>
                <a:spcPct val="122000"/>
              </a:lnSpc>
              <a:spcAft>
                <a:spcPts val="600"/>
              </a:spcAft>
            </a:pPr>
            <a:r>
              <a:rPr sz="1300" b="1">
                <a:solidFill>
                  <a:srgbClr val="333840"/>
                </a:solidFill>
                <a:latin typeface="Arial"/>
              </a:rPr>
              <a:t>Promote to a Production environment.</a:t>
            </a:r>
            <a:r>
              <a:rPr sz="1300" b="0">
                <a:solidFill>
                  <a:srgbClr val="333840"/>
                </a:solidFill>
                <a:latin typeface="Arial"/>
              </a:rPr>
              <a:t> The prototype runs on Catalyst Development.</a:t>
            </a:r>
          </a:p>
          <a:p>
            <a:pPr algn="l">
              <a:lnSpc>
                <a:spcPct val="122000"/>
              </a:lnSpc>
              <a:spcAft>
                <a:spcPts val="600"/>
              </a:spcAft>
            </a:pPr>
            <a:r>
              <a:rPr sz="1300" b="1">
                <a:solidFill>
                  <a:srgbClr val="333840"/>
                </a:solidFill>
                <a:latin typeface="Arial"/>
              </a:rPr>
              <a:t>Close the loop on the auto-flag.</a:t>
            </a:r>
            <a:r>
              <a:rPr sz="1300" b="0">
                <a:solidFill>
                  <a:srgbClr val="333840"/>
                </a:solidFill>
                <a:latin typeface="Arial"/>
              </a:rPr>
              <a:t> The Signals event function is deployed; binding it to the FIR insert event turns triage from a screen an officer opens into something that happens the moment a case is registered.</a:t>
            </a:r>
          </a:p>
          <a:p>
            <a:pPr algn="l">
              <a:lnSpc>
                <a:spcPct val="122000"/>
              </a:lnSpc>
              <a:spcAft>
                <a:spcPts val="600"/>
              </a:spcAft>
            </a:pPr>
            <a:r>
              <a:rPr sz="1300" b="1">
                <a:solidFill>
                  <a:srgbClr val="333840"/>
                </a:solidFill>
                <a:latin typeface="Arial"/>
              </a:rPr>
              <a:t>Kannada voice.</a:t>
            </a:r>
            <a:r>
              <a:rPr sz="1300" b="0">
                <a:solidFill>
                  <a:srgbClr val="333840"/>
                </a:solidFill>
                <a:latin typeface="Arial"/>
              </a:rPr>
              <a:t> The interface and the written forecast reports are already bilingual; Zia Services would add speech input and translation of free-text complaints.</a:t>
            </a:r>
          </a:p>
          <a:p>
            <a:pPr algn="l">
              <a:lnSpc>
                <a:spcPct val="122000"/>
              </a:lnSpc>
              <a:spcAft>
                <a:spcPts val="1000"/>
              </a:spcAft>
            </a:pPr>
            <a:r>
              <a:rPr sz="1300" b="1">
                <a:solidFill>
                  <a:srgbClr val="333840"/>
                </a:solidFill>
                <a:latin typeface="Arial"/>
              </a:rPr>
              <a:t>Learn from investigator feedback.</a:t>
            </a:r>
            <a:r>
              <a:rPr sz="1300" b="0">
                <a:solidFill>
                  <a:srgbClr val="333840"/>
                </a:solidFill>
                <a:latin typeface="Arial"/>
              </a:rPr>
              <a:t> Every group can be marked assigned or dismissed — those judgements are the labels needed to tune signal weights against real outcomes rather than planted ground truth.</a:t>
            </a:r>
          </a:p>
          <a:p>
            <a:pPr algn="l">
              <a:lnSpc>
                <a:spcPct val="122000"/>
              </a:lnSpc>
              <a:spcAft>
                <a:spcPts val="500"/>
              </a:spcAft>
            </a:pPr>
            <a:r>
              <a:rPr sz="1300" b="1">
                <a:solidFill>
                  <a:srgbClr val="A8231B"/>
                </a:solidFill>
                <a:latin typeface="Arial"/>
              </a:rPr>
              <a:t>Where the method fails — stated on the slide deliberately</a:t>
            </a:r>
          </a:p>
          <a:p>
            <a:pPr algn="l">
              <a:lnSpc>
                <a:spcPct val="122000"/>
              </a:lnSpc>
              <a:spcAft>
                <a:spcPts val="700"/>
              </a:spcAft>
            </a:pPr>
            <a:r>
              <a:rPr sz="1250" b="0">
                <a:solidFill>
                  <a:srgbClr val="333840"/>
                </a:solidFill>
                <a:latin typeface="Arial"/>
              </a:rPr>
              <a:t>Links are </a:t>
            </a:r>
            <a:r>
              <a:rPr sz="1250" b="1">
                <a:solidFill>
                  <a:srgbClr val="333840"/>
                </a:solidFill>
                <a:latin typeface="Arial"/>
              </a:rPr>
              <a:t>inferred, never asserted</a:t>
            </a:r>
            <a:r>
              <a:rPr sz="1250" b="0">
                <a:solidFill>
                  <a:srgbClr val="333840"/>
                </a:solidFill>
                <a:latin typeface="Arial"/>
              </a:rPr>
              <a:t> — a lead to investigate, not evidence. Two unrelated offenders working the same market at the same hour can look alike. Only 233 of 789 cases name an accused at all, which is why name recurrence is a lead rather than a conclusion. Complainant caste and religion exist in the schema and are </a:t>
            </a:r>
            <a:r>
              <a:rPr sz="1250" b="1">
                <a:solidFill>
                  <a:srgbClr val="333840"/>
                </a:solidFill>
                <a:latin typeface="Arial"/>
              </a:rPr>
              <a:t>never loaded into the engine at all</a:t>
            </a:r>
            <a:r>
              <a:rPr sz="1250" b="0">
                <a:solidFill>
                  <a:srgbClr val="333840"/>
                </a:solidFill>
                <a:latin typeface="Arial"/>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g-16.png"/>
          <p:cNvPicPr>
            <a:picLocks noChangeAspect="1"/>
          </p:cNvPicPr>
          <p:nvPr/>
        </p:nvPicPr>
        <p:blipFill>
          <a:blip r:embed="rId2"/>
          <a:stretch>
            <a:fillRect/>
          </a:stretch>
        </p:blipFill>
        <p:spPr>
          <a:xfrm>
            <a:off x="0" y="0"/>
            <a:ext cx="12191695" cy="686121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